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4" r:id="rId7"/>
    <p:sldId id="275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94649"/>
  </p:normalViewPr>
  <p:slideViewPr>
    <p:cSldViewPr snapToGrid="0">
      <p:cViewPr varScale="1">
        <p:scale>
          <a:sx n="110" d="100"/>
          <a:sy n="110" d="100"/>
        </p:scale>
        <p:origin x="20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0"/>
  <c:style val="2"/>
  <c:chart>
    <c:title>
      <c:tx>
        <c:rich>
          <a:bodyPr/>
          <a:lstStyle/>
          <a:p>
            <a:r>
              <a:rPr lang="en-GB">
                <a:latin typeface="Aptos"/>
              </a:rPr>
              <a:t>HHI trend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HHI</c:v>
          </c:tx>
          <c:spPr>
            <a:ln w="28575">
              <a:solidFill>
                <a:srgbClr val="0F2747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F2747"/>
              </a:solidFill>
            </c:spPr>
          </c:marker>
          <c:dLbls>
            <c:delete val="1"/>
          </c:dLbls>
          <c:cat>
            <c:strLit>
              <c:ptCount val="3"/>
              <c:pt idx="0">
                <c:v>Year 1</c:v>
              </c:pt>
              <c:pt idx="1">
                <c:v>Year 2</c:v>
              </c:pt>
              <c:pt idx="2">
                <c:v>Year 3</c:v>
              </c:pt>
            </c:strLit>
          </c:cat>
          <c:val>
            <c:numLit>
              <c:formatCode>0</c:formatCode>
              <c:ptCount val="3"/>
              <c:pt idx="0">
                <c:v>3450</c:v>
              </c:pt>
              <c:pt idx="1">
                <c:v>3478</c:v>
              </c:pt>
              <c:pt idx="2">
                <c:v>3550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67D8-F242-88BD-B697236049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650"/>
          <c:min val="3300"/>
        </c:scaling>
        <c:delete val="0"/>
        <c:axPos val="l"/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0"/>
  <c:style val="2"/>
  <c:chart>
    <c:title>
      <c:tx>
        <c:rich>
          <a:bodyPr/>
          <a:lstStyle/>
          <a:p>
            <a:r>
              <a:rPr lang="en-GB">
                <a:latin typeface="Aptos"/>
              </a:rPr>
              <a:t>Market shares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ZoomZip</c:v>
          </c:tx>
          <c:spPr>
            <a:ln w="28575">
              <a:solidFill>
                <a:srgbClr val="0F2747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0F2747"/>
              </a:solidFill>
            </c:spPr>
          </c:marker>
          <c:cat>
            <c:strLit>
              <c:ptCount val="3"/>
              <c:pt idx="0">
                <c:v>Year 1</c:v>
              </c:pt>
              <c:pt idx="1">
                <c:v>Year 2</c:v>
              </c:pt>
              <c:pt idx="2">
                <c:v>Year 3</c:v>
              </c:pt>
            </c:strLit>
          </c:cat>
          <c:val>
            <c:numLit>
              <c:formatCode>0%</c:formatCode>
              <c:ptCount val="3"/>
              <c:pt idx="0">
                <c:v>0.4</c:v>
              </c:pt>
              <c:pt idx="1">
                <c:v>0.42</c:v>
              </c:pt>
              <c:pt idx="2">
                <c:v>0.45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24D1-0B44-92C5-9E370243A113}"/>
            </c:ext>
          </c:extLst>
        </c:ser>
        <c:ser>
          <c:idx val="1"/>
          <c:order val="1"/>
          <c:tx>
            <c:v>FlashRide</c:v>
          </c:tx>
          <c:spPr>
            <a:ln w="28575">
              <a:solidFill>
                <a:srgbClr val="4D8CCF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4D8CCF"/>
              </a:solidFill>
            </c:spPr>
          </c:marker>
          <c:cat>
            <c:strLit>
              <c:ptCount val="3"/>
              <c:pt idx="0">
                <c:v>Year 1</c:v>
              </c:pt>
              <c:pt idx="1">
                <c:v>Year 2</c:v>
              </c:pt>
              <c:pt idx="2">
                <c:v>Year 3</c:v>
              </c:pt>
            </c:strLit>
          </c:cat>
          <c:val>
            <c:numLit>
              <c:formatCode>0%</c:formatCode>
              <c:ptCount val="3"/>
              <c:pt idx="0">
                <c:v>0.35</c:v>
              </c:pt>
              <c:pt idx="1">
                <c:v>0.33</c:v>
              </c:pt>
              <c:pt idx="2">
                <c:v>0.3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24D1-0B44-92C5-9E370243A113}"/>
            </c:ext>
          </c:extLst>
        </c:ser>
        <c:ser>
          <c:idx val="2"/>
          <c:order val="2"/>
          <c:tx>
            <c:v>Scootly</c:v>
          </c:tx>
          <c:spPr>
            <a:ln w="28575">
              <a:solidFill>
                <a:srgbClr val="2D7D74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2D7D74"/>
              </a:solidFill>
            </c:spPr>
          </c:marker>
          <c:cat>
            <c:strLit>
              <c:ptCount val="3"/>
              <c:pt idx="0">
                <c:v>Year 1</c:v>
              </c:pt>
              <c:pt idx="1">
                <c:v>Year 2</c:v>
              </c:pt>
              <c:pt idx="2">
                <c:v>Year 3</c:v>
              </c:pt>
            </c:strLit>
          </c:cat>
          <c:val>
            <c:numLit>
              <c:formatCode>0%</c:formatCode>
              <c:ptCount val="3"/>
              <c:pt idx="0">
                <c:v>0.25</c:v>
              </c:pt>
              <c:pt idx="1">
                <c:v>0.25</c:v>
              </c:pt>
              <c:pt idx="2">
                <c:v>0.25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24D1-0B44-92C5-9E370243A1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5"/>
          <c:min val="0.2"/>
        </c:scaling>
        <c:delete val="0"/>
        <c:axPos val="l"/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111827"/>
              </a:solidFill>
              <a:latin typeface="Aptos"/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0"/>
  <c:style val="2"/>
  <c:chart>
    <c:title>
      <c:tx>
        <c:rich>
          <a:bodyPr/>
          <a:lstStyle/>
          <a:p>
            <a:r>
              <a:rPr lang="en-GB">
                <a:latin typeface="Aptos"/>
              </a:rPr>
              <a:t>Margin %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Margin</c:v>
          </c:tx>
          <c:spPr>
            <a:solidFill>
              <a:srgbClr val="0F2747"/>
            </a:solidFill>
            <a:ln w="25400">
              <a:solidFill>
                <a:srgbClr val="0F2747"/>
              </a:solidFill>
            </a:ln>
          </c:spPr>
          <c:invertIfNegative val="1"/>
          <c:dLbls>
            <c:delete val="1"/>
          </c:dLbls>
          <c:cat>
            <c:strLit>
              <c:ptCount val="3"/>
              <c:pt idx="0">
                <c:v>ZoomZip</c:v>
              </c:pt>
              <c:pt idx="1">
                <c:v>FlashRide</c:v>
              </c:pt>
              <c:pt idx="2">
                <c:v>Scootly</c:v>
              </c:pt>
            </c:strLit>
          </c:cat>
          <c:val>
            <c:numLit>
              <c:formatCode>0%</c:formatCode>
              <c:ptCount val="3"/>
              <c:pt idx="0">
                <c:v>0.45100000000000001</c:v>
              </c:pt>
              <c:pt idx="1">
                <c:v>0.45500000000000002</c:v>
              </c:pt>
              <c:pt idx="2">
                <c:v>0.48099999999999998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5400">
                    <a:solidFill>
                      <a:srgbClr val="0F274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974-8F42-9CC4-55846ECA608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6"/>
        </c:scaling>
        <c:delete val="0"/>
        <c:axPos val="l"/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by saying this is not a replacement answer. It is a discussion guide for the answer already submitted.</a:t>
            </a:r>
          </a:p>
          <a:p>
            <a:r>
              <a:t>The core posture is balanced: there is a credible competition concern, but parallel pricing alone does not prove unlawful coordination.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Say: I have reread the exact version I sent and I would defend the caution in it.</a:t>
            </a:r>
          </a:p>
          <a:p>
            <a:r>
              <a:t>If asked why you corrected it: there was a small typo, and you resent the corrected PDF and calculations promptly.</a:t>
            </a:r>
          </a:p>
          <a:p>
            <a:r>
              <a:t>Do not imply you changed the substance after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Say: I answered the task by building a chain of reasoning rather than doing calculations in isolation.</a:t>
            </a:r>
          </a:p>
          <a:p>
            <a:r>
              <a:t>The strongest way to walk through it is: first diagnose the market, then quantify what can be quantified, then decide what the evidence can and cannot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your core thesis. It shows judgement: you see the concern, but you respect the evidential threshold.</a:t>
            </a:r>
          </a:p>
          <a:p>
            <a:r>
              <a:t>If Jonathan pushes for a harder answer, say the facts justify a market study and low-risk reforms immediately, but not a legal finding of collusion on these facts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 clear you are not overdoing market definition. In a one-hour case, you can state the provisional market and the evidence you would need to widen it.</a:t>
            </a:r>
          </a:p>
          <a:p>
            <a:r>
              <a:t>The main point is not just three firms; it is three firms plus a licensing cap, no entry, transparent prices and switching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Say: HHI is a screening indicator, not proof of harm by itself.</a:t>
            </a:r>
          </a:p>
          <a:p>
            <a:r>
              <a:t>The rise from 3,450 to 3,550 supports concern. But ZoomZip gaining and FlashRide losing means I should not say the market is perfectly coordinated.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formula: revenue equals unlock fee plus price per minute times 12 minutes. Cost equals ride cost plus minute cost times 12.</a:t>
            </a:r>
          </a:p>
          <a:p>
            <a:r>
              <a:t>The key caveat is important. High contribution margin indicates pricing power but does not prove excessive economic profit.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good place to sound like an economist. Say the elasticity is indicative, not causal.</a:t>
            </a:r>
          </a:p>
          <a:p>
            <a:r>
              <a:t>The value is still useful because it explains why a 10% price increase can be profitable if demand falls only 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Say: my answer deliberately separated four explanations. That is the intellectually honest move.</a:t>
            </a:r>
          </a:p>
          <a:p>
            <a:r>
              <a:t>If asked what is most likely, say structure makes coordination plausible, but cost shocks and price leadership remain live alternatives until you test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is a strong consulting move: you are not just analysing; you are defining the workplan.</a:t>
            </a:r>
          </a:p>
          <a:p>
            <a:r>
              <a:t>Use the words plus factors. It signals you understand the difference between market pattern and evidence of coordinated conduct.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nuance slide. You are acknowledging the evidence that cuts against a simple collusion story.</a:t>
            </a:r>
          </a:p>
          <a:p>
            <a:r>
              <a:t>Say: price competition may be weak, but non-price competition and share shifts show the market is not completely static.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Say: the evidence of harm is credible, but the cause and precise quantum still need more work.</a:t>
            </a:r>
          </a:p>
          <a:p>
            <a:r>
              <a:t>Do not call the full GBP 5.2m a welfare loss. It is a contribution pool and an indicator of pricing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helps you handle pushback. Caveats are not weakness; they show proportionate reasoning.</a:t>
            </a:r>
          </a:p>
          <a:p>
            <a:r>
              <a:t>If they ask what you would change, say you might make the harm quantification more explicit, but you would keep the evidential caution.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down the ladder. The cap and switching remedies address the most defensible problem. A fare cap addresses symptoms but creates more regulatory risk.</a:t>
            </a:r>
          </a:p>
          <a:p>
            <a:r>
              <a:t>Say: if harm persists after less intrusive steps, or if coordination evidence emerges, escalation is justified.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slide you can end the case walk-through on.</a:t>
            </a:r>
          </a:p>
          <a:p>
            <a:r>
              <a:t>It gives a manager or Authority a practical next step rather than just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Practise these as short spoken answers. The goal is not to recite the deck; it is to sound calm when challenged.</a:t>
            </a:r>
          </a:p>
          <a:p>
            <a:r>
              <a:t>If you get a hard question, use the same structure: evidence, caveat, implication.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your rehearsal slide.</a:t>
            </a:r>
          </a:p>
          <a:p>
            <a:r>
              <a:t>Use it to keep the live answer concise. If they interrupt, jump to the relevant section rather than trying to finish every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slide ready if they ask how you calculated a number.</a:t>
            </a:r>
          </a:p>
          <a:p>
            <a:r>
              <a:t>For any calculation challenge, answer with the formula first, then the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B663B18-C70F-45A7-8F42-E4A5E89BBF08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286FB7"/>
                </a:solidFill>
              </a:defRPr>
            </a:pPr>
            <a:r>
              <a:rPr sz="850" b="1" i="0">
                <a:solidFill>
                  <a:srgbClr val="2F5D8A"/>
                </a:solidFill>
                <a:latin typeface="Aptos"/>
              </a:rPr>
              <a:t>S&amp;W ECONOMIC ADVISORY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6E14CD-991D-4E13-B275-13B751248A37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7239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 i="0">
                <a:solidFill>
                  <a:srgbClr val="111827"/>
                </a:solidFill>
              </a:defRPr>
            </a:pPr>
            <a:r>
              <a:rPr sz="4050" b="1" i="0">
                <a:solidFill>
                  <a:srgbClr val="0F2747"/>
                </a:solidFill>
                <a:latin typeface="Aptos"/>
              </a:rPr>
              <a:t>Pedalford e-scooter case discussion deck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173A7B-E575-45DF-B893-8EBFBF7E107C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6381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5B6472"/>
                </a:solidFill>
              </a:defRPr>
            </a:pPr>
            <a:r>
              <a:rPr sz="800" i="0">
                <a:solidFill>
                  <a:srgbClr val="5B6675"/>
                </a:solidFill>
                <a:latin typeface="Aptos"/>
              </a:rPr>
              <a:t>A live walkthrough of the submitted S&amp;W case answer, with calculations, caveats and defensible talk tracks.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4D99FD-CD0E-4AA8-9AFD-B9227DB3D658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2286000" cy="38100"/>
          </a:xfrm>
          <a:prstGeom prst="rect">
            <a:avLst/>
          </a:prstGeom>
          <a:solidFill>
            <a:srgbClr val="0F27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020699-444F-4DC7-8107-1ABBE46275E9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647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Prepared for Leath Al Obaidi | Based on the corrected PDF and Excel sent to Emily Owen on 18 Jun 2026, 11:03 BST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1C2D435-5648-4A6C-8ED7-493C6EB886B8}"/>
              </a:ext>
            </a:extLst>
          </p:cNvPr>
          <p:cNvSpPr>
            <a:spLocks noGrp="1"/>
          </p:cNvSpPr>
          <p:nvPr/>
        </p:nvSpPr>
        <p:spPr>
          <a:xfrm>
            <a:off x="8064500" y="895350"/>
            <a:ext cx="3111500" cy="4953000"/>
          </a:xfrm>
          <a:prstGeom prst="roundRect">
            <a:avLst>
              <a:gd name="adj" fmla="val 6154"/>
            </a:avLst>
          </a:prstGeom>
          <a:solidFill>
            <a:srgbClr val="F1F0EA"/>
          </a:solidFill>
          <a:ln w="9525">
            <a:solidFill>
              <a:srgbClr val="E7E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1E7A02-50DC-413F-A460-D7A2F72530FB}"/>
              </a:ext>
            </a:extLst>
          </p:cNvPr>
          <p:cNvSpPr>
            <a:spLocks noGrp="1"/>
          </p:cNvSpPr>
          <p:nvPr/>
        </p:nvSpPr>
        <p:spPr>
          <a:xfrm>
            <a:off x="8407400" y="1333500"/>
            <a:ext cx="241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8345D"/>
                </a:solidFill>
              </a:defRPr>
            </a:pPr>
            <a:r>
              <a:rPr lang="en-GB" sz="1500" b="1" i="0">
                <a:solidFill>
                  <a:srgbClr val="0F2747"/>
                </a:solidFill>
                <a:latin typeface="Aptos"/>
              </a:rPr>
              <a:t>Discussion spine</a:t>
            </a:r>
            <a:endParaRPr sz="1500" b="1" i="0">
              <a:solidFill>
                <a:srgbClr val="0F2747"/>
              </a:solidFill>
              <a:latin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8C91DB-19DA-4358-B869-615876472C03}"/>
              </a:ext>
            </a:extLst>
          </p:cNvPr>
          <p:cNvSpPr>
            <a:spLocks noGrp="1"/>
          </p:cNvSpPr>
          <p:nvPr/>
        </p:nvSpPr>
        <p:spPr>
          <a:xfrm>
            <a:off x="8407400" y="1841500"/>
            <a:ext cx="2476500" cy="330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800" b="0" i="0">
                <a:solidFill>
                  <a:srgbClr val="111827"/>
                </a:solidFill>
              </a:defRPr>
            </a:pPr>
            <a:r>
              <a:rPr lang="en-GB" sz="1200" b="0" i="0">
                <a:solidFill>
                  <a:srgbClr val="2B2F36"/>
                </a:solidFill>
                <a:latin typeface="Aptos"/>
              </a:rPr>
              <a:t>1. Executive summary
2. Key findings
3. Evidence
4. Economic analysis
5. Consumer harm
6. Competition assessment
7. Intervention options
8. Recommendation</a:t>
            </a:r>
            <a:endParaRPr sz="1200" b="0" i="0">
              <a:solidFill>
                <a:srgbClr val="2B2F3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92475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0A47D73-CCA7-4C33-A583-926D10322C0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 i="0">
                <a:solidFill>
                  <a:srgbClr val="286FB7"/>
                </a:solidFill>
              </a:defRPr>
            </a:pPr>
            <a:r>
              <a:rPr lang="en-GB" sz="850" b="1" i="0">
                <a:solidFill>
                  <a:srgbClr val="2F5D8A"/>
                </a:solidFill>
                <a:latin typeface="Aptos"/>
              </a:rPr>
              <a:t>EVIDENCE CONTROL</a:t>
            </a:r>
            <a:endParaRPr sz="850" b="1" i="0">
              <a:solidFill>
                <a:srgbClr val="2F5D8A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1C4EFB-D5B4-4A5A-A8AA-4F9CED2553AF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0F2747"/>
                </a:solidFill>
                <a:latin typeface="Aptos"/>
              </a:rPr>
              <a:t>Use the corrected sent version as the anchor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30374A-585F-4206-BAAC-37A5D511C83E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5B6472"/>
                </a:solidFill>
              </a:defRPr>
            </a:pPr>
            <a:r>
              <a:rPr sz="800" i="0">
                <a:solidFill>
                  <a:srgbClr val="5B6675"/>
                </a:solidFill>
                <a:latin typeface="Aptos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5E5E50-55A7-4483-AD4E-08062D81F0E8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524000" cy="38100"/>
          </a:xfrm>
          <a:prstGeom prst="rect">
            <a:avLst/>
          </a:prstGeom>
          <a:solidFill>
            <a:srgbClr val="0F27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DCA2738-A3D0-4722-A5B5-3896E29BBFB6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238125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50D7B8-D0C5-415A-9DEB-B5D621C70A31}"/>
              </a:ext>
            </a:extLst>
          </p:cNvPr>
          <p:cNvSpPr>
            <a:spLocks noGrp="1"/>
          </p:cNvSpPr>
          <p:nvPr/>
        </p:nvSpPr>
        <p:spPr>
          <a:xfrm>
            <a:off x="933450" y="203835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286FB7"/>
                </a:solidFill>
              </a:defRPr>
            </a:pPr>
            <a:r>
              <a:rPr sz="2850" b="1" i="0">
                <a:solidFill>
                  <a:srgbClr val="286FB7"/>
                </a:solidFill>
              </a:rPr>
              <a:t>11:03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8D1103-5C7D-4F47-B183-67D3C8CF3439}"/>
              </a:ext>
            </a:extLst>
          </p:cNvPr>
          <p:cNvSpPr>
            <a:spLocks noGrp="1"/>
          </p:cNvSpPr>
          <p:nvPr/>
        </p:nvSpPr>
        <p:spPr>
          <a:xfrm>
            <a:off x="933450" y="255270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Corrected email sent to Emily Owen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1C8B335-25FF-4F33-B842-AC4D487D6B0E}"/>
              </a:ext>
            </a:extLst>
          </p:cNvPr>
          <p:cNvSpPr>
            <a:spLocks noGrp="1"/>
          </p:cNvSpPr>
          <p:nvPr/>
        </p:nvSpPr>
        <p:spPr>
          <a:xfrm>
            <a:off x="3486150" y="1809750"/>
            <a:ext cx="238125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105CB7-4608-43C2-9738-F53A35C64C0D}"/>
              </a:ext>
            </a:extLst>
          </p:cNvPr>
          <p:cNvSpPr>
            <a:spLocks noGrp="1"/>
          </p:cNvSpPr>
          <p:nvPr/>
        </p:nvSpPr>
        <p:spPr>
          <a:xfrm>
            <a:off x="3714750" y="203835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2D7D7A"/>
                </a:solidFill>
              </a:defRPr>
            </a:pPr>
            <a:r>
              <a:rPr sz="2850" b="1" i="0">
                <a:solidFill>
                  <a:srgbClr val="2D7D7A"/>
                </a:solidFill>
              </a:rPr>
              <a:t>2 files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611DE5-6F75-4B17-A46D-56E8448E5DE8}"/>
              </a:ext>
            </a:extLst>
          </p:cNvPr>
          <p:cNvSpPr>
            <a:spLocks noGrp="1"/>
          </p:cNvSpPr>
          <p:nvPr/>
        </p:nvSpPr>
        <p:spPr>
          <a:xfrm>
            <a:off x="3714750" y="255270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PDF briefing note plus Excel calculations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7522EF9-F69C-4C77-961E-EFE412642C16}"/>
              </a:ext>
            </a:extLst>
          </p:cNvPr>
          <p:cNvSpPr>
            <a:spLocks noGrp="1"/>
          </p:cNvSpPr>
          <p:nvPr/>
        </p:nvSpPr>
        <p:spPr>
          <a:xfrm>
            <a:off x="6267450" y="1809750"/>
            <a:ext cx="238125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EAE978-6BD7-4B95-8FA0-DA002EC6F106}"/>
              </a:ext>
            </a:extLst>
          </p:cNvPr>
          <p:cNvSpPr>
            <a:spLocks noGrp="1"/>
          </p:cNvSpPr>
          <p:nvPr/>
        </p:nvSpPr>
        <p:spPr>
          <a:xfrm>
            <a:off x="6496050" y="203835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28734F"/>
                </a:solidFill>
              </a:defRPr>
            </a:pPr>
            <a:r>
              <a:rPr sz="2850" b="1" i="0">
                <a:solidFill>
                  <a:srgbClr val="28734F"/>
                </a:solidFill>
              </a:rPr>
              <a:t>Receipt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19C1A7-9331-4F36-A1F6-0DDA1DA38C18}"/>
              </a:ext>
            </a:extLst>
          </p:cNvPr>
          <p:cNvSpPr>
            <a:spLocks noGrp="1"/>
          </p:cNvSpPr>
          <p:nvPr/>
        </p:nvSpPr>
        <p:spPr>
          <a:xfrm>
            <a:off x="6496050" y="255270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Emily confirmed completed case study received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15E4C34-CBDE-437C-AF74-2155B533651B}"/>
              </a:ext>
            </a:extLst>
          </p:cNvPr>
          <p:cNvSpPr>
            <a:spLocks noGrp="1"/>
          </p:cNvSpPr>
          <p:nvPr/>
        </p:nvSpPr>
        <p:spPr>
          <a:xfrm>
            <a:off x="800100" y="3790950"/>
            <a:ext cx="1038225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9030A7-56AF-4542-B240-F75D9F10A37E}"/>
              </a:ext>
            </a:extLst>
          </p:cNvPr>
          <p:cNvSpPr>
            <a:spLocks noGrp="1"/>
          </p:cNvSpPr>
          <p:nvPr/>
        </p:nvSpPr>
        <p:spPr>
          <a:xfrm>
            <a:off x="1066800" y="40005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8345D"/>
                </a:solidFill>
              </a:defRPr>
            </a:pPr>
            <a:r>
              <a:rPr sz="1800" b="1" i="0">
                <a:solidFill>
                  <a:srgbClr val="18345D"/>
                </a:solidFill>
              </a:rPr>
              <a:t>How to frame this in the interview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12477A-912E-4352-868D-0AFCC076C3D5}"/>
              </a:ext>
            </a:extLst>
          </p:cNvPr>
          <p:cNvSpPr>
            <a:spLocks noGrp="1"/>
          </p:cNvSpPr>
          <p:nvPr/>
        </p:nvSpPr>
        <p:spPr>
          <a:xfrm>
            <a:off x="1066800" y="4438650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111827"/>
                </a:solidFill>
              </a:defRPr>
            </a:pPr>
            <a:r>
              <a:rPr sz="1575" b="0" i="0">
                <a:solidFill>
                  <a:srgbClr val="111827"/>
                </a:solidFill>
              </a:rPr>
              <a:t>I treated the complaint seriously, but separated evidence from inference. The answer intentionally avoids jumping from parallel pricing to collusion; it recommends investigation, structural contestability and low-risk demand-side remedies first.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E0DF61-6C50-4015-AF1D-2A50D7A4B69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Source: Gmail thread with Emily Owen, subject Re: S&amp;W; submitted PDF and Excel workbook.</a:t>
            </a:r>
          </a:p>
        </p:txBody>
      </p:sp>
    </p:spTree>
    <p:extLst>
      <p:ext uri="{BB962C8B-B14F-4D97-AF65-F5344CB8AC3E}">
        <p14:creationId xmlns:p14="http://schemas.microsoft.com/office/powerpoint/2010/main" val="579862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7D36415-5457-4D44-972C-07FA9C85F42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 i="0">
                <a:solidFill>
                  <a:srgbClr val="286FB7"/>
                </a:solidFill>
              </a:defRPr>
            </a:pPr>
            <a:r>
              <a:rPr lang="en-GB" sz="850" b="1" i="0">
                <a:solidFill>
                  <a:srgbClr val="2F5D8A"/>
                </a:solidFill>
                <a:latin typeface="Aptos"/>
              </a:rPr>
              <a:t>KEY FINDINGS</a:t>
            </a:r>
            <a:endParaRPr sz="850" b="1" i="0">
              <a:solidFill>
                <a:srgbClr val="2F5D8A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E0B046-1C3B-4D80-AE9A-34BA22A044A4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0F2747"/>
                </a:solidFill>
                <a:latin typeface="Aptos"/>
              </a:rPr>
              <a:t>The Authority asked three decision questions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4735DD-281D-4245-A172-BC24470FF16D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5B6472"/>
                </a:solidFill>
              </a:defRPr>
            </a:pPr>
            <a:r>
              <a:rPr sz="800" i="0">
                <a:solidFill>
                  <a:srgbClr val="5B6675"/>
                </a:solidFill>
                <a:latin typeface="Aptos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999738-AE23-42AD-BAA5-3B6D93B5037C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524000" cy="38100"/>
          </a:xfrm>
          <a:prstGeom prst="rect">
            <a:avLst/>
          </a:prstGeom>
          <a:solidFill>
            <a:srgbClr val="0F27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A4D27E9-4C0D-42D9-8CD8-C74BD1FEA8FE}"/>
              </a:ext>
            </a:extLst>
          </p:cNvPr>
          <p:cNvSpPr>
            <a:spLocks noGrp="1"/>
          </p:cNvSpPr>
          <p:nvPr/>
        </p:nvSpPr>
        <p:spPr>
          <a:xfrm>
            <a:off x="704850" y="1733550"/>
            <a:ext cx="314325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33F8DC-FBAB-48E9-ACFE-01C5AF40DAB7}"/>
              </a:ext>
            </a:extLst>
          </p:cNvPr>
          <p:cNvSpPr>
            <a:spLocks noGrp="1"/>
          </p:cNvSpPr>
          <p:nvPr/>
        </p:nvSpPr>
        <p:spPr>
          <a:xfrm>
            <a:off x="933450" y="20002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 i="0">
                <a:solidFill>
                  <a:srgbClr val="18345D"/>
                </a:solidFill>
              </a:defRPr>
            </a:pPr>
            <a:r>
              <a:rPr sz="1950" b="1" i="0">
                <a:solidFill>
                  <a:srgbClr val="18345D"/>
                </a:solidFill>
              </a:rPr>
              <a:t>Competition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FABB76-E2D6-441F-9CE7-A077F12588A0}"/>
              </a:ext>
            </a:extLst>
          </p:cNvPr>
          <p:cNvSpPr>
            <a:spLocks noGrp="1"/>
          </p:cNvSpPr>
          <p:nvPr/>
        </p:nvSpPr>
        <p:spPr>
          <a:xfrm>
            <a:off x="933450" y="2552700"/>
            <a:ext cx="2476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11827"/>
                </a:solidFill>
              </a:defRPr>
            </a:pPr>
            <a:r>
              <a:rPr sz="1800" b="0" i="0">
                <a:solidFill>
                  <a:srgbClr val="111827"/>
                </a:solidFill>
              </a:rPr>
              <a:t>Is competition working effectively?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B8F48F4-4BBA-4DFE-9719-A809BECA12EC}"/>
              </a:ext>
            </a:extLst>
          </p:cNvPr>
          <p:cNvSpPr>
            <a:spLocks noGrp="1"/>
          </p:cNvSpPr>
          <p:nvPr/>
        </p:nvSpPr>
        <p:spPr>
          <a:xfrm>
            <a:off x="4343400" y="1733550"/>
            <a:ext cx="314325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4DD1BA-C239-4056-B526-E6CF84E6BF0D}"/>
              </a:ext>
            </a:extLst>
          </p:cNvPr>
          <p:cNvSpPr>
            <a:spLocks noGrp="1"/>
          </p:cNvSpPr>
          <p:nvPr/>
        </p:nvSpPr>
        <p:spPr>
          <a:xfrm>
            <a:off x="4572000" y="20002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 i="0">
                <a:solidFill>
                  <a:srgbClr val="B7791F"/>
                </a:solidFill>
              </a:defRPr>
            </a:pPr>
            <a:r>
              <a:rPr sz="1950" b="1" i="0">
                <a:solidFill>
                  <a:srgbClr val="B7791F"/>
                </a:solidFill>
              </a:rPr>
              <a:t>Harm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CDD342-9D92-455D-9B89-A58FCF827C70}"/>
              </a:ext>
            </a:extLst>
          </p:cNvPr>
          <p:cNvSpPr>
            <a:spLocks noGrp="1"/>
          </p:cNvSpPr>
          <p:nvPr/>
        </p:nvSpPr>
        <p:spPr>
          <a:xfrm>
            <a:off x="4572000" y="2552700"/>
            <a:ext cx="2476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11827"/>
                </a:solidFill>
              </a:defRPr>
            </a:pPr>
            <a:r>
              <a:rPr sz="1800" b="0" i="0">
                <a:solidFill>
                  <a:srgbClr val="111827"/>
                </a:solidFill>
              </a:rPr>
              <a:t>Is there evidence of consumer harm?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455E6BC-4CB3-41FB-A611-E641A5BF94AA}"/>
              </a:ext>
            </a:extLst>
          </p:cNvPr>
          <p:cNvSpPr>
            <a:spLocks noGrp="1"/>
          </p:cNvSpPr>
          <p:nvPr/>
        </p:nvSpPr>
        <p:spPr>
          <a:xfrm>
            <a:off x="7981950" y="1733550"/>
            <a:ext cx="314325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E47AF0-4C58-4B39-8513-D49421DDE112}"/>
              </a:ext>
            </a:extLst>
          </p:cNvPr>
          <p:cNvSpPr>
            <a:spLocks noGrp="1"/>
          </p:cNvSpPr>
          <p:nvPr/>
        </p:nvSpPr>
        <p:spPr>
          <a:xfrm>
            <a:off x="8210550" y="20002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 i="0">
                <a:solidFill>
                  <a:srgbClr val="28734F"/>
                </a:solidFill>
              </a:defRPr>
            </a:pPr>
            <a:r>
              <a:rPr sz="1950" b="1" i="0">
                <a:solidFill>
                  <a:srgbClr val="28734F"/>
                </a:solidFill>
              </a:rPr>
              <a:t>Intervention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A9EDB7-2513-4C1A-8D7B-C8B0316A1D41}"/>
              </a:ext>
            </a:extLst>
          </p:cNvPr>
          <p:cNvSpPr>
            <a:spLocks noGrp="1"/>
          </p:cNvSpPr>
          <p:nvPr/>
        </p:nvSpPr>
        <p:spPr>
          <a:xfrm>
            <a:off x="8210550" y="2552700"/>
            <a:ext cx="2476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111827"/>
                </a:solidFill>
              </a:defRPr>
            </a:pPr>
            <a:r>
              <a:rPr sz="1800" b="0" i="0">
                <a:solidFill>
                  <a:srgbClr val="111827"/>
                </a:solidFill>
              </a:rPr>
              <a:t>If yes, what remedy is proportionate?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AB0385-F2FB-4225-A697-843CE7004C36}"/>
              </a:ext>
            </a:extLst>
          </p:cNvPr>
          <p:cNvSpPr>
            <a:spLocks noGrp="1"/>
          </p:cNvSpPr>
          <p:nvPr/>
        </p:nvSpPr>
        <p:spPr>
          <a:xfrm>
            <a:off x="990600" y="4495800"/>
            <a:ext cx="942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 i="0">
                <a:solidFill>
                  <a:srgbClr val="18345D"/>
                </a:solidFill>
              </a:defRPr>
            </a:pPr>
            <a:r>
              <a:rPr sz="1950" b="1" i="0">
                <a:solidFill>
                  <a:srgbClr val="18345D"/>
                </a:solidFill>
              </a:rPr>
              <a:t>Your A-E sections are best discussed as an evidence funnel: structure first, then pricing, dynamics, harm and remedies.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9ACE2B-E083-47F6-B3CD-E08F071A458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Source: S&amp;W Economic Advisory Case Study candidate brief.</a:t>
            </a:r>
          </a:p>
        </p:txBody>
      </p:sp>
    </p:spTree>
    <p:extLst>
      <p:ext uri="{BB962C8B-B14F-4D97-AF65-F5344CB8AC3E}">
        <p14:creationId xmlns:p14="http://schemas.microsoft.com/office/powerpoint/2010/main" val="27058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ED38448-2DC0-45F4-A4F4-F7C81DB651D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 i="0">
                <a:solidFill>
                  <a:srgbClr val="286FB7"/>
                </a:solidFill>
              </a:defRPr>
            </a:pPr>
            <a:r>
              <a:rPr lang="en-GB" sz="850" b="1" i="0">
                <a:solidFill>
                  <a:srgbClr val="2F5D8A"/>
                </a:solidFill>
                <a:latin typeface="Aptos"/>
              </a:rPr>
              <a:t>EXECUTIVE SUMMARY</a:t>
            </a:r>
            <a:endParaRPr sz="850" b="1" i="0">
              <a:solidFill>
                <a:srgbClr val="2F5D8A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FB8D37-FC1D-4F76-8C10-70B3426D441B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0F2747"/>
                </a:solidFill>
                <a:latin typeface="Aptos"/>
              </a:rPr>
              <a:t>The defensible answer is cautious but not timid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380ABB-5CC6-4179-B84E-F2E152F796A3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5B6472"/>
                </a:solidFill>
              </a:defRPr>
            </a:pPr>
            <a:r>
              <a:rPr sz="800" i="0">
                <a:solidFill>
                  <a:srgbClr val="5B6675"/>
                </a:solidFill>
                <a:latin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502D9-4C37-4984-8F60-7D30DAD1CB40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524000" cy="38100"/>
          </a:xfrm>
          <a:prstGeom prst="rect">
            <a:avLst/>
          </a:prstGeom>
          <a:solidFill>
            <a:srgbClr val="0F27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83A55D-1B24-4201-9AF4-49529CC3AC78}"/>
              </a:ext>
            </a:extLst>
          </p:cNvPr>
          <p:cNvSpPr>
            <a:spLocks noGrp="1"/>
          </p:cNvSpPr>
          <p:nvPr/>
        </p:nvSpPr>
        <p:spPr>
          <a:xfrm>
            <a:off x="800100" y="169545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8345D"/>
                </a:solidFill>
              </a:defRPr>
            </a:pPr>
            <a:r>
              <a:rPr sz="2550" b="1" i="0">
                <a:solidFill>
                  <a:srgbClr val="18345D"/>
                </a:solidFill>
              </a:rPr>
              <a:t>Credible competition concern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C395D7-AC75-4FBD-8EEF-52B75F86C773}"/>
              </a:ext>
            </a:extLst>
          </p:cNvPr>
          <p:cNvSpPr>
            <a:spLocks noGrp="1"/>
          </p:cNvSpPr>
          <p:nvPr/>
        </p:nvSpPr>
        <p:spPr>
          <a:xfrm>
            <a:off x="895350" y="2305050"/>
            <a:ext cx="4762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11827"/>
                </a:solidFill>
              </a:defRPr>
            </a:pPr>
            <a:r>
              <a:rPr sz="1725" b="0" i="0">
                <a:solidFill>
                  <a:srgbClr val="111827"/>
                </a:solidFill>
              </a:rPr>
              <a:t>- Three-firm cap creates a regulator-made entry barrier</a:t>
            </a:r>
          </a:p>
          <a:p>
            <a:pPr algn="l">
              <a:defRPr sz="1725" b="0" i="0">
                <a:solidFill>
                  <a:srgbClr val="111827"/>
                </a:solidFill>
              </a:defRPr>
            </a:pPr>
            <a:r>
              <a:rPr sz="1725" b="0" i="0">
                <a:solidFill>
                  <a:srgbClr val="111827"/>
                </a:solidFill>
              </a:rPr>
              <a:t>- HHI is high and rising</a:t>
            </a:r>
          </a:p>
          <a:p>
            <a:pPr algn="l">
              <a:defRPr sz="1725" b="0" i="0">
                <a:solidFill>
                  <a:srgbClr val="111827"/>
                </a:solidFill>
              </a:defRPr>
            </a:pPr>
            <a:r>
              <a:rPr sz="1725" b="0" i="0">
                <a:solidFill>
                  <a:srgbClr val="111827"/>
                </a:solidFill>
              </a:rPr>
              <a:t>- Demand looks inelastic at current prices</a:t>
            </a:r>
          </a:p>
          <a:p>
            <a:pPr algn="l">
              <a:defRPr sz="1725" b="0" i="0">
                <a:solidFill>
                  <a:srgbClr val="111827"/>
                </a:solidFill>
              </a:defRPr>
            </a:pPr>
            <a:r>
              <a:rPr sz="1725" b="0" i="0">
                <a:solidFill>
                  <a:srgbClr val="111827"/>
                </a:solidFill>
              </a:rPr>
              <a:t>- Margins are high on direct operating costs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E11FE3-7D4B-4D86-A2BE-077963743BFA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4953000" cy="660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A9423A"/>
                </a:solidFill>
              </a:defRPr>
            </a:pPr>
            <a:r>
              <a:rPr sz="2300" b="1" i="0">
                <a:solidFill>
                  <a:srgbClr val="C88A2A"/>
                </a:solidFill>
                <a:latin typeface="Aptos"/>
              </a:rPr>
              <a:t>But not enough for a collusion finding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D5330A-01F5-4037-A999-D4CA69A1424B}"/>
              </a:ext>
            </a:extLst>
          </p:cNvPr>
          <p:cNvSpPr>
            <a:spLocks noGrp="1"/>
          </p:cNvSpPr>
          <p:nvPr/>
        </p:nvSpPr>
        <p:spPr>
          <a:xfrm>
            <a:off x="6534150" y="2489200"/>
            <a:ext cx="4762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11827"/>
                </a:solidFill>
              </a:defRPr>
            </a:pPr>
            <a:r>
              <a:rPr sz="1600" i="0">
                <a:solidFill>
                  <a:srgbClr val="2B2F36"/>
                </a:solidFill>
                <a:latin typeface="Aptos"/>
              </a:rPr>
              <a:t>- Parallel pricing has multiple explanations</a:t>
            </a:r>
          </a:p>
          <a:p>
            <a:pPr algn="l">
              <a:defRPr sz="1725" b="0" i="0">
                <a:solidFill>
                  <a:srgbClr val="111827"/>
                </a:solidFill>
              </a:defRPr>
            </a:pPr>
            <a:r>
              <a:rPr sz="1600" i="0">
                <a:solidFill>
                  <a:srgbClr val="2B2F36"/>
                </a:solidFill>
                <a:latin typeface="Aptos"/>
              </a:rPr>
              <a:t>- Cost data is only Year 3 and incomplete</a:t>
            </a:r>
          </a:p>
          <a:p>
            <a:pPr algn="l">
              <a:defRPr sz="1725" b="0" i="0">
                <a:solidFill>
                  <a:srgbClr val="111827"/>
                </a:solidFill>
              </a:defRPr>
            </a:pPr>
            <a:r>
              <a:rPr sz="1600" i="0">
                <a:solidFill>
                  <a:srgbClr val="2B2F36"/>
                </a:solidFill>
                <a:latin typeface="Aptos"/>
              </a:rPr>
              <a:t>- Share movements show some rivalry remains</a:t>
            </a:r>
          </a:p>
          <a:p>
            <a:pPr algn="l">
              <a:defRPr sz="1725" b="0" i="0">
                <a:solidFill>
                  <a:srgbClr val="111827"/>
                </a:solidFill>
              </a:defRPr>
            </a:pPr>
            <a:r>
              <a:rPr sz="1600" i="0">
                <a:solidFill>
                  <a:srgbClr val="2B2F36"/>
                </a:solidFill>
                <a:latin typeface="Aptos"/>
              </a:rPr>
              <a:t>- Need plus factors before enforcement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9E05F0A-DE6D-4F42-8E22-ECF77AE61536}"/>
              </a:ext>
            </a:extLst>
          </p:cNvPr>
          <p:cNvSpPr>
            <a:spLocks noGrp="1"/>
          </p:cNvSpPr>
          <p:nvPr/>
        </p:nvSpPr>
        <p:spPr>
          <a:xfrm>
            <a:off x="1200150" y="4781550"/>
            <a:ext cx="9791700" cy="819150"/>
          </a:xfrm>
          <a:prstGeom prst="roundRect">
            <a:avLst>
              <a:gd name="adj" fmla="val 13953"/>
            </a:avLst>
          </a:prstGeom>
          <a:solidFill>
            <a:srgbClr val="F1F0EA"/>
          </a:solidFill>
          <a:ln w="9525">
            <a:solidFill>
              <a:srgbClr val="E7E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FD29A6-9977-42A1-8B4F-644D4DDB9577}"/>
              </a:ext>
            </a:extLst>
          </p:cNvPr>
          <p:cNvSpPr>
            <a:spLocks noGrp="1"/>
          </p:cNvSpPr>
          <p:nvPr/>
        </p:nvSpPr>
        <p:spPr>
          <a:xfrm>
            <a:off x="1485900" y="5029200"/>
            <a:ext cx="923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Recommended posture: investigate coordination as a hypothesis, act first on structural and demand-side frictions, keep price regulation as a backstop.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F8842F-80EB-4F4C-B469-31F269DF581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Source: submitted briefing note summary and Sections A-E.</a:t>
            </a:r>
          </a:p>
        </p:txBody>
      </p:sp>
    </p:spTree>
    <p:extLst>
      <p:ext uri="{BB962C8B-B14F-4D97-AF65-F5344CB8AC3E}">
        <p14:creationId xmlns:p14="http://schemas.microsoft.com/office/powerpoint/2010/main" val="1278058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75BEF23-5F91-48A0-931C-E42FC8899EE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 i="0">
                <a:solidFill>
                  <a:srgbClr val="286FB7"/>
                </a:solidFill>
              </a:defRPr>
            </a:pPr>
            <a:r>
              <a:rPr lang="en-GB" sz="850" b="1" i="0">
                <a:solidFill>
                  <a:srgbClr val="2F5D8A"/>
                </a:solidFill>
                <a:latin typeface="Aptos"/>
              </a:rPr>
              <a:t>ECONOMIC ANALYSIS</a:t>
            </a:r>
            <a:endParaRPr sz="850" b="1" i="0">
              <a:solidFill>
                <a:srgbClr val="2F5D8A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EB9673-4B28-463F-ACF5-43470D07D197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0F2747"/>
                </a:solidFill>
                <a:latin typeface="Aptos"/>
              </a:rPr>
              <a:t>Market structure: tight local oligopoly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AD41B0-D479-4A48-8CB1-341110100E78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5B6472"/>
                </a:solidFill>
              </a:defRPr>
            </a:pPr>
            <a:r>
              <a:rPr sz="800" i="0">
                <a:solidFill>
                  <a:srgbClr val="5B6675"/>
                </a:solidFill>
                <a:latin typeface="Aptos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DC2525-7B95-45DE-A855-F6F2E16BEA0D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524000" cy="38100"/>
          </a:xfrm>
          <a:prstGeom prst="rect">
            <a:avLst/>
          </a:prstGeom>
          <a:solidFill>
            <a:srgbClr val="0F27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959A26-F79C-4D8D-8159-B3DC4E1AAC7E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 i="0">
                <a:solidFill>
                  <a:srgbClr val="18345D"/>
                </a:solidFill>
              </a:defRPr>
            </a:pPr>
            <a:r>
              <a:rPr sz="1950" b="1" i="0">
                <a:solidFill>
                  <a:srgbClr val="18345D"/>
                </a:solidFill>
              </a:rPr>
              <a:t>Market definition lens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3A6560-64CF-4067-805E-53E806485A75}"/>
              </a:ext>
            </a:extLst>
          </p:cNvPr>
          <p:cNvSpPr>
            <a:spLocks noGrp="1"/>
          </p:cNvSpPr>
          <p:nvPr/>
        </p:nvSpPr>
        <p:spPr>
          <a:xfrm>
            <a:off x="781050" y="2238375"/>
            <a:ext cx="4476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111827"/>
                </a:solidFill>
              </a:defRPr>
            </a:pPr>
            <a:r>
              <a:rPr sz="1650" b="0" i="0">
                <a:solidFill>
                  <a:srgbClr val="111827"/>
                </a:solidFill>
              </a:rPr>
              <a:t>- Product: app-based shared e-scooter rental</a:t>
            </a:r>
          </a:p>
          <a:p>
            <a:pPr algn="l">
              <a:defRPr sz="1650" b="0" i="0">
                <a:solidFill>
                  <a:srgbClr val="111827"/>
                </a:solidFill>
              </a:defRPr>
            </a:pPr>
            <a:r>
              <a:rPr sz="1650" b="0" i="0">
                <a:solidFill>
                  <a:srgbClr val="111827"/>
                </a:solidFill>
              </a:rPr>
              <a:t>- Geography: likely Pedalford/local availability</a:t>
            </a:r>
          </a:p>
          <a:p>
            <a:pPr algn="l">
              <a:defRPr sz="1650" b="0" i="0">
                <a:solidFill>
                  <a:srgbClr val="111827"/>
                </a:solidFill>
              </a:defRPr>
            </a:pPr>
            <a:r>
              <a:rPr sz="1650" b="0" i="0">
                <a:solidFill>
                  <a:srgbClr val="111827"/>
                </a:solidFill>
              </a:rPr>
              <a:t>- Substitutes need evidence: walking, bikes, buses, taxis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EEA7D3-BAE5-48D6-94E7-B0BC01E5AE08}"/>
              </a:ext>
            </a:extLst>
          </p:cNvPr>
          <p:cNvSpPr>
            <a:spLocks noGrp="1"/>
          </p:cNvSpPr>
          <p:nvPr/>
        </p:nvSpPr>
        <p:spPr>
          <a:xfrm>
            <a:off x="6438900" y="17145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 i="0">
                <a:solidFill>
                  <a:srgbClr val="18345D"/>
                </a:solidFill>
              </a:defRPr>
            </a:pPr>
            <a:r>
              <a:rPr sz="1950" b="1" i="0">
                <a:solidFill>
                  <a:srgbClr val="18345D"/>
                </a:solidFill>
              </a:rPr>
              <a:t>Competition lens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477FD7-7D3A-4AD3-A855-DB0DBF430137}"/>
              </a:ext>
            </a:extLst>
          </p:cNvPr>
          <p:cNvSpPr>
            <a:spLocks noGrp="1"/>
          </p:cNvSpPr>
          <p:nvPr/>
        </p:nvSpPr>
        <p:spPr>
          <a:xfrm>
            <a:off x="6496050" y="2238375"/>
            <a:ext cx="4476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111827"/>
                </a:solidFill>
              </a:defRPr>
            </a:pPr>
            <a:r>
              <a:rPr sz="1650" b="0" i="0">
                <a:solidFill>
                  <a:srgbClr val="111827"/>
                </a:solidFill>
              </a:rPr>
              <a:t>- Only three licensed operators</a:t>
            </a:r>
          </a:p>
          <a:p>
            <a:pPr algn="l">
              <a:defRPr sz="1650" b="0" i="0">
                <a:solidFill>
                  <a:srgbClr val="111827"/>
                </a:solidFill>
              </a:defRPr>
            </a:pPr>
            <a:r>
              <a:rPr sz="1650" b="0" i="0">
                <a:solidFill>
                  <a:srgbClr val="111827"/>
                </a:solidFill>
              </a:rPr>
              <a:t>- Number of operators capped at three</a:t>
            </a:r>
          </a:p>
          <a:p>
            <a:pPr algn="l">
              <a:defRPr sz="1650" b="0" i="0">
                <a:solidFill>
                  <a:srgbClr val="111827"/>
                </a:solidFill>
              </a:defRPr>
            </a:pPr>
            <a:r>
              <a:rPr sz="1650" b="0" i="0">
                <a:solidFill>
                  <a:srgbClr val="111827"/>
                </a:solidFill>
              </a:rPr>
              <a:t>- No new entrants in two years</a:t>
            </a:r>
          </a:p>
          <a:p>
            <a:pPr algn="l">
              <a:defRPr sz="1650" b="0" i="0">
                <a:solidFill>
                  <a:srgbClr val="111827"/>
                </a:solidFill>
              </a:defRPr>
            </a:pPr>
            <a:r>
              <a:rPr sz="1650" b="0" i="0">
                <a:solidFill>
                  <a:srgbClr val="111827"/>
                </a:solidFill>
              </a:rPr>
              <a:t>- Switching frictions: apps, accounts, stored credit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9FEBCC8-C8B8-4761-8BEB-FD63A82F7176}"/>
              </a:ext>
            </a:extLst>
          </p:cNvPr>
          <p:cNvSpPr>
            <a:spLocks noGrp="1"/>
          </p:cNvSpPr>
          <p:nvPr/>
        </p:nvSpPr>
        <p:spPr>
          <a:xfrm>
            <a:off x="990600" y="4686300"/>
            <a:ext cx="1019175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7E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5C58F0-0811-4255-A9C1-FF9FE2F7CF48}"/>
              </a:ext>
            </a:extLst>
          </p:cNvPr>
          <p:cNvSpPr>
            <a:spLocks noGrp="1"/>
          </p:cNvSpPr>
          <p:nvPr/>
        </p:nvSpPr>
        <p:spPr>
          <a:xfrm>
            <a:off x="1276350" y="4953000"/>
            <a:ext cx="962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Talk track: the cap is central because it weakens entry, the usual disciplining force in a market with high margins.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B0CD80-7EFE-4D00-98B2-949C9CFE9E3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Source: case prompt tables and submitted Section A.</a:t>
            </a:r>
          </a:p>
        </p:txBody>
      </p:sp>
    </p:spTree>
    <p:extLst>
      <p:ext uri="{BB962C8B-B14F-4D97-AF65-F5344CB8AC3E}">
        <p14:creationId xmlns:p14="http://schemas.microsoft.com/office/powerpoint/2010/main" val="1943656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5D0213-42EF-4FD2-9AE1-1CA91FDB3BC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 i="0">
                <a:solidFill>
                  <a:srgbClr val="286FB7"/>
                </a:solidFill>
              </a:defRPr>
            </a:pPr>
            <a:r>
              <a:rPr lang="en-GB" sz="850" b="1" i="0">
                <a:solidFill>
                  <a:srgbClr val="2F5D8A"/>
                </a:solidFill>
                <a:latin typeface="Aptos"/>
              </a:rPr>
              <a:t>ECONOMIC ANALYSIS</a:t>
            </a:r>
            <a:endParaRPr sz="850" b="1" i="0">
              <a:solidFill>
                <a:srgbClr val="2F5D8A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29C28D-C868-41F7-8C84-0BA61808F456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0F2747"/>
                </a:solidFill>
                <a:latin typeface="Aptos"/>
              </a:rPr>
              <a:t>HHI is high and edging 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8990A5-6976-49E2-B5E5-B78360E9A8FE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5B6472"/>
                </a:solidFill>
              </a:defRPr>
            </a:pPr>
            <a:r>
              <a:rPr sz="800" i="0">
                <a:solidFill>
                  <a:srgbClr val="5B6675"/>
                </a:solidFill>
                <a:latin typeface="Aptos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CA0BBF-BA45-49CD-87BC-65E5C08F1F27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524000" cy="38100"/>
          </a:xfrm>
          <a:prstGeom prst="rect">
            <a:avLst/>
          </a:prstGeom>
          <a:solidFill>
            <a:srgbClr val="0F27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3" name="Chart"/>
          <p:cNvGraphicFramePr/>
          <p:nvPr/>
        </p:nvGraphicFramePr>
        <p:xfrm>
          <a:off x="742950" y="1809750"/>
          <a:ext cx="51435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6496050" y="1809750"/>
          <a:ext cx="49530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860B43F-B420-40EC-928C-9092AB914151}"/>
              </a:ext>
            </a:extLst>
          </p:cNvPr>
          <p:cNvSpPr>
            <a:spLocks noGrp="1"/>
          </p:cNvSpPr>
          <p:nvPr/>
        </p:nvSpPr>
        <p:spPr>
          <a:xfrm>
            <a:off x="914400" y="5381625"/>
            <a:ext cx="1009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8345D"/>
                </a:solidFill>
              </a:defRPr>
            </a:pPr>
            <a:r>
              <a:rPr sz="1875" b="1" i="0">
                <a:solidFill>
                  <a:srgbClr val="18345D"/>
                </a:solidFill>
              </a:rPr>
              <a:t>Interpretation: concentration is clearly high, but share movement means rivalry has not disappeared.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588321-C8EC-4901-8F1C-E7672A88DE9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Source: Excel Analysis sheet, HHI and market share calculations.</a:t>
            </a:r>
          </a:p>
        </p:txBody>
      </p:sp>
    </p:spTree>
    <p:extLst>
      <p:ext uri="{BB962C8B-B14F-4D97-AF65-F5344CB8AC3E}">
        <p14:creationId xmlns:p14="http://schemas.microsoft.com/office/powerpoint/2010/main" val="739221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DEA725-26F1-4486-8740-B92C94BFD86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 i="0">
                <a:solidFill>
                  <a:srgbClr val="286FB7"/>
                </a:solidFill>
              </a:defRPr>
            </a:pPr>
            <a:r>
              <a:rPr lang="en-GB" sz="850" b="1" i="0">
                <a:solidFill>
                  <a:srgbClr val="2F5D8A"/>
                </a:solidFill>
                <a:latin typeface="Aptos"/>
              </a:rPr>
              <a:t>ECONOMIC ANALYSIS</a:t>
            </a:r>
            <a:endParaRPr sz="850" b="1" i="0">
              <a:solidFill>
                <a:srgbClr val="2F5D8A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9FA7E1-1BA6-4E55-B9D1-712A9879A1C9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0F2747"/>
                </a:solidFill>
                <a:latin typeface="Aptos"/>
              </a:rPr>
              <a:t>Unit economics: high contribution margins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470E6E-980A-4217-A270-B2D26F051773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5B6472"/>
                </a:solidFill>
              </a:defRPr>
            </a:pPr>
            <a:r>
              <a:rPr sz="800" i="0">
                <a:solidFill>
                  <a:srgbClr val="5B6675"/>
                </a:solidFill>
                <a:latin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49CEE9-A647-499F-AC5C-00479B960089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524000" cy="38100"/>
          </a:xfrm>
          <a:prstGeom prst="rect">
            <a:avLst/>
          </a:prstGeom>
          <a:solidFill>
            <a:srgbClr val="0F27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4" name="Table 13"/>
          <p:cNvGraphicFramePr/>
          <p:nvPr/>
        </p:nvGraphicFramePr>
        <p:xfrm>
          <a:off x="666750" y="1638300"/>
          <a:ext cx="6858001" cy="2476500"/>
        </p:xfrm>
        <a:graphic>
          <a:graphicData uri="http://schemas.openxmlformats.org/drawingml/2006/table">
            <a:tbl>
              <a:tblPr firstRow="1" bandRow="1"/>
              <a:tblGrid>
                <a:gridCol w="1748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7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47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5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</a:rPr>
                        <a:t>Operator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</a:rPr>
                        <a:t>Revenue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</a:rPr>
                        <a:t>Cost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</a:rPr>
                        <a:t>Margin %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B2F36"/>
                          </a:solidFill>
                          <a:latin typeface="Aptos"/>
                        </a:rPr>
                        <a:t>ZoomZip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B2F36"/>
                          </a:solidFill>
                          <a:latin typeface="Aptos"/>
                        </a:rPr>
                        <a:t>GBP 3.64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B2F36"/>
                          </a:solidFill>
                          <a:latin typeface="Aptos"/>
                        </a:rPr>
                        <a:t>GBP 2.00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B2F36"/>
                          </a:solidFill>
                          <a:latin typeface="Aptos"/>
                        </a:rPr>
                        <a:t>GBP 1.64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B2F36"/>
                          </a:solidFill>
                          <a:latin typeface="Aptos"/>
                        </a:rPr>
                        <a:t>45.1%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B2F36"/>
                          </a:solidFill>
                          <a:latin typeface="Aptos"/>
                        </a:rPr>
                        <a:t>FlashRide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B2F36"/>
                          </a:solidFill>
                          <a:latin typeface="Aptos"/>
                        </a:rPr>
                        <a:t>GBP 3.98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B2F36"/>
                          </a:solidFill>
                          <a:latin typeface="Aptos"/>
                        </a:rPr>
                        <a:t>GBP 2.17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B2F36"/>
                          </a:solidFill>
                          <a:latin typeface="Aptos"/>
                        </a:rPr>
                        <a:t>GBP 1.81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B2F36"/>
                          </a:solidFill>
                          <a:latin typeface="Aptos"/>
                        </a:rPr>
                        <a:t>45.5%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B2F36"/>
                          </a:solidFill>
                          <a:latin typeface="Aptos"/>
                        </a:rPr>
                        <a:t>Scootly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B2F36"/>
                          </a:solidFill>
                          <a:latin typeface="Aptos"/>
                        </a:rPr>
                        <a:t>GBP 3.76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B2F36"/>
                          </a:solidFill>
                          <a:latin typeface="Aptos"/>
                        </a:rPr>
                        <a:t>GBP 1.95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B2F36"/>
                          </a:solidFill>
                          <a:latin typeface="Aptos"/>
                        </a:rPr>
                        <a:t>GBP 1.81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B2F36"/>
                          </a:solidFill>
                          <a:latin typeface="Aptos"/>
                        </a:rPr>
                        <a:t>48.1%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B2F36"/>
                          </a:solidFill>
                          <a:latin typeface="Aptos"/>
                        </a:rPr>
                        <a:t>Market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B2F36"/>
                          </a:solidFill>
                          <a:latin typeface="Aptos"/>
                        </a:rPr>
                        <a:t>GBP 3.77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B2F36"/>
                          </a:solidFill>
                          <a:latin typeface="Aptos"/>
                        </a:rPr>
                        <a:t>GBP 2.04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B2F36"/>
                          </a:solidFill>
                          <a:latin typeface="Aptos"/>
                        </a:rPr>
                        <a:t>GBP 1.73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B2F36"/>
                          </a:solidFill>
                          <a:latin typeface="Aptos"/>
                        </a:rPr>
                        <a:t>46.0%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Chart"/>
          <p:cNvGraphicFramePr/>
          <p:nvPr/>
        </p:nvGraphicFramePr>
        <p:xfrm>
          <a:off x="8001000" y="1733550"/>
          <a:ext cx="32385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154B693-9D4A-4928-A400-31128AE7DE5C}"/>
              </a:ext>
            </a:extLst>
          </p:cNvPr>
          <p:cNvSpPr>
            <a:spLocks noGrp="1"/>
          </p:cNvSpPr>
          <p:nvPr/>
        </p:nvSpPr>
        <p:spPr>
          <a:xfrm>
            <a:off x="933450" y="4686300"/>
            <a:ext cx="10096500" cy="838200"/>
          </a:xfrm>
          <a:prstGeom prst="roundRect">
            <a:avLst>
              <a:gd name="adj" fmla="val 13636"/>
            </a:avLst>
          </a:prstGeom>
          <a:solidFill>
            <a:srgbClr val="F1F0EA"/>
          </a:solidFill>
          <a:ln w="9525">
            <a:solidFill>
              <a:srgbClr val="E7E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A791B6-D27C-48AF-8771-2026B4832E16}"/>
              </a:ext>
            </a:extLst>
          </p:cNvPr>
          <p:cNvSpPr>
            <a:spLocks noGrp="1"/>
          </p:cNvSpPr>
          <p:nvPr/>
        </p:nvSpPr>
        <p:spPr>
          <a:xfrm>
            <a:off x="1219200" y="4914900"/>
            <a:ext cx="952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Defence: call these contribution margins, not economic profits. A full profitability view needs depreciation, fixed costs, capital employed and cost of capital.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2ADBF0-7184-483B-A035-6D215AF9AA3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Source: Excel Analysis sheet and submitted Section B.</a:t>
            </a:r>
          </a:p>
        </p:txBody>
      </p:sp>
    </p:spTree>
    <p:extLst>
      <p:ext uri="{BB962C8B-B14F-4D97-AF65-F5344CB8AC3E}">
        <p14:creationId xmlns:p14="http://schemas.microsoft.com/office/powerpoint/2010/main" val="1309067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F3FD421-5F41-48BC-95C1-6F9D2DF78E94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 i="0">
                <a:solidFill>
                  <a:srgbClr val="286FB7"/>
                </a:solidFill>
              </a:defRPr>
            </a:pPr>
            <a:r>
              <a:rPr lang="en-GB" sz="850" b="1" i="0">
                <a:solidFill>
                  <a:srgbClr val="2F5D8A"/>
                </a:solidFill>
                <a:latin typeface="Aptos"/>
              </a:rPr>
              <a:t>ECONOMIC ANALYSIS</a:t>
            </a:r>
            <a:endParaRPr sz="850" b="1" i="0">
              <a:solidFill>
                <a:srgbClr val="2F5D8A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0C7879-EC64-4569-B802-57E0DC7291BE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0F2747"/>
                </a:solidFill>
                <a:latin typeface="Aptos"/>
              </a:rPr>
              <a:t>Elasticity: indicative, useful, but not causal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1A2451-2579-4CEB-A2F7-8E4EE40AF6D8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5B6472"/>
                </a:solidFill>
              </a:defRPr>
            </a:pPr>
            <a:r>
              <a:rPr sz="800" i="0">
                <a:solidFill>
                  <a:srgbClr val="5B6675"/>
                </a:solidFill>
                <a:latin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C531F2-1A87-442F-AE8A-A6BAAA0D9822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524000" cy="38100"/>
          </a:xfrm>
          <a:prstGeom prst="rect">
            <a:avLst/>
          </a:prstGeom>
          <a:solidFill>
            <a:srgbClr val="0F27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89A9240-095C-4A65-A22C-35D59F0F79BB}"/>
              </a:ext>
            </a:extLst>
          </p:cNvPr>
          <p:cNvSpPr>
            <a:spLocks noGrp="1"/>
          </p:cNvSpPr>
          <p:nvPr/>
        </p:nvSpPr>
        <p:spPr>
          <a:xfrm>
            <a:off x="895350" y="1809750"/>
            <a:ext cx="447675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E8F8BA-5E0D-41D5-879B-D6139547F92A}"/>
              </a:ext>
            </a:extLst>
          </p:cNvPr>
          <p:cNvSpPr>
            <a:spLocks noGrp="1"/>
          </p:cNvSpPr>
          <p:nvPr/>
        </p:nvSpPr>
        <p:spPr>
          <a:xfrm>
            <a:off x="1238250" y="21145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18345D"/>
                </a:solidFill>
              </a:defRPr>
            </a:pPr>
            <a:r>
              <a:rPr sz="2100" b="1" i="0">
                <a:solidFill>
                  <a:srgbClr val="18345D"/>
                </a:solidFill>
              </a:rPr>
              <a:t>Implied elasticity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173FB4-E66D-4A9B-B173-758257EB00DE}"/>
              </a:ext>
            </a:extLst>
          </p:cNvPr>
          <p:cNvSpPr>
            <a:spLocks noGrp="1"/>
          </p:cNvSpPr>
          <p:nvPr/>
        </p:nvSpPr>
        <p:spPr>
          <a:xfrm>
            <a:off x="1238250" y="2714625"/>
            <a:ext cx="3429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111827"/>
                </a:solidFill>
              </a:defRPr>
            </a:pPr>
            <a:r>
              <a:rPr sz="2025" b="1" i="0">
                <a:solidFill>
                  <a:srgbClr val="111827"/>
                </a:solidFill>
              </a:rPr>
              <a:t>-5% quantity change</a:t>
            </a:r>
          </a:p>
          <a:p>
            <a:pPr algn="l">
              <a:defRPr sz="2025" b="1" i="0">
                <a:solidFill>
                  <a:srgbClr val="111827"/>
                </a:solidFill>
              </a:defRPr>
            </a:pPr>
            <a:r>
              <a:rPr sz="2025" b="1" i="0">
                <a:solidFill>
                  <a:srgbClr val="111827"/>
                </a:solidFill>
              </a:rPr>
              <a:t>--------------------  =  -0.5</a:t>
            </a:r>
          </a:p>
          <a:p>
            <a:pPr algn="l">
              <a:defRPr sz="2025" b="1" i="0">
                <a:solidFill>
                  <a:srgbClr val="111827"/>
                </a:solidFill>
              </a:defRPr>
            </a:pPr>
            <a:r>
              <a:rPr sz="2025" b="1" i="0">
                <a:solidFill>
                  <a:srgbClr val="111827"/>
                </a:solidFill>
              </a:rPr>
              <a:t>+10% price change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8BC57E2-4317-4A51-9FAD-6269957DF6E5}"/>
              </a:ext>
            </a:extLst>
          </p:cNvPr>
          <p:cNvSpPr>
            <a:spLocks noGrp="1"/>
          </p:cNvSpPr>
          <p:nvPr/>
        </p:nvSpPr>
        <p:spPr>
          <a:xfrm>
            <a:off x="6629400" y="1809750"/>
            <a:ext cx="447675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C44CA3-09BC-4D3B-A103-8F1874BC9640}"/>
              </a:ext>
            </a:extLst>
          </p:cNvPr>
          <p:cNvSpPr>
            <a:spLocks noGrp="1"/>
          </p:cNvSpPr>
          <p:nvPr/>
        </p:nvSpPr>
        <p:spPr>
          <a:xfrm>
            <a:off x="6972300" y="21145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18345D"/>
                </a:solidFill>
              </a:defRPr>
            </a:pPr>
            <a:r>
              <a:rPr sz="2100" b="1" i="0">
                <a:solidFill>
                  <a:srgbClr val="18345D"/>
                </a:solidFill>
              </a:rPr>
              <a:t>Revenue implication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752086-9D05-41BE-BFFD-DB2CD02B2DAE}"/>
              </a:ext>
            </a:extLst>
          </p:cNvPr>
          <p:cNvSpPr>
            <a:spLocks noGrp="1"/>
          </p:cNvSpPr>
          <p:nvPr/>
        </p:nvSpPr>
        <p:spPr>
          <a:xfrm>
            <a:off x="6972300" y="2809875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28734F"/>
                </a:solidFill>
              </a:defRPr>
            </a:pPr>
            <a:r>
              <a:rPr sz="2550" b="1" i="0">
                <a:solidFill>
                  <a:srgbClr val="28734F"/>
                </a:solidFill>
              </a:rPr>
              <a:t>1.10 x 0.95 = 1.045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630331-E699-4CE3-8E81-56581D75BBB3}"/>
              </a:ext>
            </a:extLst>
          </p:cNvPr>
          <p:cNvSpPr>
            <a:spLocks noGrp="1"/>
          </p:cNvSpPr>
          <p:nvPr/>
        </p:nvSpPr>
        <p:spPr>
          <a:xfrm>
            <a:off x="6972300" y="33718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Revenue rises around 4.5%, all else equal.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7719F8-3D32-423F-B3E8-555B35919D95}"/>
              </a:ext>
            </a:extLst>
          </p:cNvPr>
          <p:cNvSpPr>
            <a:spLocks noGrp="1"/>
          </p:cNvSpPr>
          <p:nvPr/>
        </p:nvSpPr>
        <p:spPr>
          <a:xfrm>
            <a:off x="1123950" y="4781550"/>
            <a:ext cx="9906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Strong answer: inelastic demand supports pricing power, but the estimate is single-period and may reflect weather, quality, fleet availability or alternative transport conditions.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EF35DF-F301-4E2C-B92E-71487897F6A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Source: Excel Analysis sheet, market developments and submitted Section B.</a:t>
            </a:r>
          </a:p>
        </p:txBody>
      </p:sp>
    </p:spTree>
    <p:extLst>
      <p:ext uri="{BB962C8B-B14F-4D97-AF65-F5344CB8AC3E}">
        <p14:creationId xmlns:p14="http://schemas.microsoft.com/office/powerpoint/2010/main" val="1230961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D3EC1EB-EB51-4024-A091-C1D950506C7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 i="0">
                <a:solidFill>
                  <a:srgbClr val="286FB7"/>
                </a:solidFill>
              </a:defRPr>
            </a:pPr>
            <a:r>
              <a:rPr lang="en-GB" sz="850" b="1" i="0">
                <a:solidFill>
                  <a:srgbClr val="2F5D8A"/>
                </a:solidFill>
                <a:latin typeface="Aptos"/>
              </a:rPr>
              <a:t>COMPETITION ASSESSMENT</a:t>
            </a:r>
            <a:endParaRPr sz="850" b="1" i="0">
              <a:solidFill>
                <a:srgbClr val="2F5D8A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5E6393-0678-4941-9833-BB3FCEEAC2D2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0F2747"/>
                </a:solidFill>
                <a:latin typeface="Aptos"/>
              </a:rPr>
              <a:t>Parallel pricing supports hypotheses, not conclusions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61A18C-31C0-486B-AC30-EB0FDDEAE1F8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5B6472"/>
                </a:solidFill>
              </a:defRPr>
            </a:pPr>
            <a:r>
              <a:rPr sz="800" i="0">
                <a:solidFill>
                  <a:srgbClr val="5B6675"/>
                </a:solidFill>
                <a:latin typeface="Aptos"/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61237A-66C4-42EF-9591-57C498DAAADE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524000" cy="38100"/>
          </a:xfrm>
          <a:prstGeom prst="rect">
            <a:avLst/>
          </a:prstGeom>
          <a:solidFill>
            <a:srgbClr val="0F27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07E43A-9A98-430C-8CDC-CEE04BB6F002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49530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914BBD-D565-4EA7-ADA3-0F0B7864F472}"/>
              </a:ext>
            </a:extLst>
          </p:cNvPr>
          <p:cNvSpPr>
            <a:spLocks noGrp="1"/>
          </p:cNvSpPr>
          <p:nvPr/>
        </p:nvSpPr>
        <p:spPr>
          <a:xfrm>
            <a:off x="952500" y="1924050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286FB7"/>
                </a:solidFill>
              </a:defRPr>
            </a:pPr>
            <a:r>
              <a:rPr sz="1875" b="1" i="0">
                <a:solidFill>
                  <a:srgbClr val="286FB7"/>
                </a:solidFill>
              </a:rPr>
              <a:t>Common cost shock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EB74BD-D438-49BD-A737-68CD2E0D6D13}"/>
              </a:ext>
            </a:extLst>
          </p:cNvPr>
          <p:cNvSpPr>
            <a:spLocks noGrp="1"/>
          </p:cNvSpPr>
          <p:nvPr/>
        </p:nvSpPr>
        <p:spPr>
          <a:xfrm>
            <a:off x="952500" y="2343150"/>
            <a:ext cx="428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All firms may be passing through similar input, labour, insurance or maintenance cost pressures.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33D6C4C-E339-43DE-865C-4C9A4E080D7E}"/>
              </a:ext>
            </a:extLst>
          </p:cNvPr>
          <p:cNvSpPr>
            <a:spLocks noGrp="1"/>
          </p:cNvSpPr>
          <p:nvPr/>
        </p:nvSpPr>
        <p:spPr>
          <a:xfrm>
            <a:off x="6438900" y="1695450"/>
            <a:ext cx="49530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61A208-6C21-4731-A7C0-7F8046F8FD0D}"/>
              </a:ext>
            </a:extLst>
          </p:cNvPr>
          <p:cNvSpPr>
            <a:spLocks noGrp="1"/>
          </p:cNvSpPr>
          <p:nvPr/>
        </p:nvSpPr>
        <p:spPr>
          <a:xfrm>
            <a:off x="6667500" y="1924050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2D7D7A"/>
                </a:solidFill>
              </a:defRPr>
            </a:pPr>
            <a:r>
              <a:rPr sz="1875" b="1" i="0">
                <a:solidFill>
                  <a:srgbClr val="2D7D7A"/>
                </a:solidFill>
              </a:rPr>
              <a:t>Price leadership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98964A-5E42-4476-8482-53EF3F48D6BC}"/>
              </a:ext>
            </a:extLst>
          </p:cNvPr>
          <p:cNvSpPr>
            <a:spLocks noGrp="1"/>
          </p:cNvSpPr>
          <p:nvPr/>
        </p:nvSpPr>
        <p:spPr>
          <a:xfrm>
            <a:off x="6667500" y="2343150"/>
            <a:ext cx="428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One firm moves first and rivals match quickly because prices are transparent.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5C369C6-63DC-470F-B624-25FE00A3A2DA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49530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C554C0-9052-4BC7-A72E-1E0962C041C9}"/>
              </a:ext>
            </a:extLst>
          </p:cNvPr>
          <p:cNvSpPr>
            <a:spLocks noGrp="1"/>
          </p:cNvSpPr>
          <p:nvPr/>
        </p:nvSpPr>
        <p:spPr>
          <a:xfrm>
            <a:off x="952500" y="3943350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B7791F"/>
                </a:solidFill>
              </a:defRPr>
            </a:pPr>
            <a:r>
              <a:rPr sz="1875" b="1" i="0">
                <a:solidFill>
                  <a:srgbClr val="B7791F"/>
                </a:solidFill>
              </a:rPr>
              <a:t>Tacit coordination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E8D277-E2C5-4162-996F-FDD2ACFE8DE4}"/>
              </a:ext>
            </a:extLst>
          </p:cNvPr>
          <p:cNvSpPr>
            <a:spLocks noGrp="1"/>
          </p:cNvSpPr>
          <p:nvPr/>
        </p:nvSpPr>
        <p:spPr>
          <a:xfrm>
            <a:off x="952500" y="4362450"/>
            <a:ext cx="428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Few firms, repeated interaction and blocked entry can make coordination easier.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AF6CE11-2AB6-4791-8ADF-7783AA6FEEDD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530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DCAF21-A36D-47BC-983C-A1EB2EC76EDF}"/>
              </a:ext>
            </a:extLst>
          </p:cNvPr>
          <p:cNvSpPr>
            <a:spLocks noGrp="1"/>
          </p:cNvSpPr>
          <p:nvPr/>
        </p:nvSpPr>
        <p:spPr>
          <a:xfrm>
            <a:off x="6667500" y="3943350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A9423A"/>
                </a:solidFill>
              </a:defRPr>
            </a:pPr>
            <a:r>
              <a:rPr sz="1875" b="1" i="0">
                <a:solidFill>
                  <a:srgbClr val="A9423A"/>
                </a:solidFill>
              </a:rPr>
              <a:t>Explicit agreement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E7FF05-8C68-45E7-A197-901980015079}"/>
              </a:ext>
            </a:extLst>
          </p:cNvPr>
          <p:cNvSpPr>
            <a:spLocks noGrp="1"/>
          </p:cNvSpPr>
          <p:nvPr/>
        </p:nvSpPr>
        <p:spPr>
          <a:xfrm>
            <a:off x="6667500" y="4362450"/>
            <a:ext cx="428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Needs direct or circumstantial plus-factor evidence; parallel pricing alone is not enough.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791213-9643-4727-9CCC-FFFAA0C6A0E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Source: submitted Section C.</a:t>
            </a:r>
          </a:p>
        </p:txBody>
      </p:sp>
    </p:spTree>
    <p:extLst>
      <p:ext uri="{BB962C8B-B14F-4D97-AF65-F5344CB8AC3E}">
        <p14:creationId xmlns:p14="http://schemas.microsoft.com/office/powerpoint/2010/main" val="137296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89C7507-5D01-4A5F-9DE6-3D19B347D81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 i="0">
                <a:solidFill>
                  <a:srgbClr val="286FB7"/>
                </a:solidFill>
              </a:defRPr>
            </a:pPr>
            <a:r>
              <a:rPr lang="en-GB" sz="850" b="1" i="0">
                <a:solidFill>
                  <a:srgbClr val="2F5D8A"/>
                </a:solidFill>
                <a:latin typeface="Aptos"/>
              </a:rPr>
              <a:t>EVIDENCE</a:t>
            </a:r>
            <a:endParaRPr sz="850" b="1" i="0">
              <a:solidFill>
                <a:srgbClr val="2F5D8A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EFCB70-43C0-4719-999F-A5229990A76B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0F2747"/>
                </a:solidFill>
                <a:latin typeface="Aptos"/>
              </a:rPr>
              <a:t>What evidence would change the view?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1F49F9-B26A-41B1-B747-AB031CF74F72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5B6472"/>
                </a:solidFill>
              </a:defRPr>
            </a:pPr>
            <a:r>
              <a:rPr sz="800" i="0">
                <a:solidFill>
                  <a:srgbClr val="5B6675"/>
                </a:solidFill>
                <a:latin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BFFD4F-2B9F-4E73-A0E8-39CA5931FF09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524000" cy="38100"/>
          </a:xfrm>
          <a:prstGeom prst="rect">
            <a:avLst/>
          </a:prstGeom>
          <a:solidFill>
            <a:srgbClr val="0F27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11"/>
          <p:cNvGraphicFramePr/>
          <p:nvPr>
            <p:extLst>
              <p:ext uri="{D42A27DB-BD31-4B8C-83A1-F6EECF244321}">
                <p14:modId xmlns:p14="http://schemas.microsoft.com/office/powerpoint/2010/main" val="2279205016"/>
              </p:ext>
            </p:extLst>
          </p:nvPr>
        </p:nvGraphicFramePr>
        <p:xfrm>
          <a:off x="666750" y="1638300"/>
          <a:ext cx="10858500" cy="3714750"/>
        </p:xfrm>
        <a:graphic>
          <a:graphicData uri="http://schemas.openxmlformats.org/drawingml/2006/table">
            <a:tbl>
              <a:tblPr firstRow="1" bandRow="1"/>
              <a:tblGrid>
                <a:gridCol w="2913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5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Evidence area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What to request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Why it matters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Pricing history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Timestamped fare, unlock fee and promotion changes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Tests who moved first and whether changes follow rivals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Costs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Input, insurance, maintenance, fleet and labour trends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Distinguishes pass-through from margin expansion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Internal documents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Pricing papers, competitor monitoring, board minutes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Looks for plus factors and intent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Data and algorithms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Ride-level demand, app prompts, pricing rules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Tests consumer response and pricing mechanics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Market access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Entry applications, licensing process, cross-ownership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Tests whether the cap and links protect incumbents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5EB2526-E8C1-454D-B352-4A45C484B376}"/>
              </a:ext>
            </a:extLst>
          </p:cNvPr>
          <p:cNvSpPr>
            <a:spLocks noGrp="1"/>
          </p:cNvSpPr>
          <p:nvPr/>
        </p:nvSpPr>
        <p:spPr>
          <a:xfrm>
            <a:off x="876300" y="563880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18345D"/>
                </a:solidFill>
              </a:defRPr>
            </a:pPr>
            <a:r>
              <a:rPr sz="1725" b="1" i="0">
                <a:solidFill>
                  <a:srgbClr val="18345D"/>
                </a:solidFill>
              </a:rPr>
              <a:t>Interview line: I would preserve the coordination hypothesis, but I would not turn it into a finding until these plus factors are tested.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1AF58E-FDC1-4E69-B8BA-EDE02A955F3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Source: submitted Section C and competition-economics evidence framework.</a:t>
            </a:r>
          </a:p>
        </p:txBody>
      </p:sp>
    </p:spTree>
    <p:extLst>
      <p:ext uri="{BB962C8B-B14F-4D97-AF65-F5344CB8AC3E}">
        <p14:creationId xmlns:p14="http://schemas.microsoft.com/office/powerpoint/2010/main" val="1973401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1BFFF22-5F96-4BD2-AAE7-8104F358910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 i="0">
                <a:solidFill>
                  <a:srgbClr val="286FB7"/>
                </a:solidFill>
              </a:defRPr>
            </a:pPr>
            <a:r>
              <a:rPr lang="en-GB" sz="850" b="1" i="0">
                <a:solidFill>
                  <a:srgbClr val="2F5D8A"/>
                </a:solidFill>
                <a:latin typeface="Aptos"/>
              </a:rPr>
              <a:t>COMPETITION ASSESSMENT</a:t>
            </a:r>
            <a:endParaRPr sz="850" b="1" i="0">
              <a:solidFill>
                <a:srgbClr val="2F5D8A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DD9EC7-BEE4-4C2E-ABC9-854AEA74176D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0F2747"/>
                </a:solidFill>
                <a:latin typeface="Aptos"/>
              </a:rPr>
              <a:t>Some rivalry remains outside headline price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F58442-426F-4FED-AACE-02CBD6778FBF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5B6472"/>
                </a:solidFill>
              </a:defRPr>
            </a:pPr>
            <a:r>
              <a:rPr sz="800" i="0">
                <a:solidFill>
                  <a:srgbClr val="5B6675"/>
                </a:solidFill>
                <a:latin typeface="Aptos"/>
              </a:rPr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5DF8F-3BE0-405E-BDC2-D788DF2FD621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524000" cy="38100"/>
          </a:xfrm>
          <a:prstGeom prst="rect">
            <a:avLst/>
          </a:prstGeom>
          <a:solidFill>
            <a:srgbClr val="0F27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14C6A42-67BC-4CAA-B401-D1FFDD22445E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314325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BBD3B3-5507-48C6-A379-12AF9498FEF8}"/>
              </a:ext>
            </a:extLst>
          </p:cNvPr>
          <p:cNvSpPr>
            <a:spLocks noGrp="1"/>
          </p:cNvSpPr>
          <p:nvPr/>
        </p:nvSpPr>
        <p:spPr>
          <a:xfrm>
            <a:off x="1085850" y="21336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286FB7"/>
                </a:solidFill>
              </a:defRPr>
            </a:pPr>
            <a:r>
              <a:rPr sz="2025" b="1" i="0">
                <a:solidFill>
                  <a:srgbClr val="286FB7"/>
                </a:solidFill>
              </a:rPr>
              <a:t>Availability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548CD-4801-41BB-971E-575547D85DA7}"/>
              </a:ext>
            </a:extLst>
          </p:cNvPr>
          <p:cNvSpPr>
            <a:spLocks noGrp="1"/>
          </p:cNvSpPr>
          <p:nvPr/>
        </p:nvSpPr>
        <p:spPr>
          <a:xfrm>
            <a:off x="1085850" y="2724150"/>
            <a:ext cx="2571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111827"/>
                </a:solidFill>
              </a:defRPr>
            </a:pPr>
            <a:r>
              <a:rPr sz="1575" b="0" i="0">
                <a:solidFill>
                  <a:srgbClr val="111827"/>
                </a:solidFill>
              </a:rPr>
              <a:t>Fleet density, battery charge and coverage determine whether a user can actually ride.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DC0F3D9-24CF-4803-A35D-854889C92F56}"/>
              </a:ext>
            </a:extLst>
          </p:cNvPr>
          <p:cNvSpPr>
            <a:spLocks noGrp="1"/>
          </p:cNvSpPr>
          <p:nvPr/>
        </p:nvSpPr>
        <p:spPr>
          <a:xfrm>
            <a:off x="4514850" y="1809750"/>
            <a:ext cx="314325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AECF5A-0C8E-4C98-961A-B52A323555A6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2D7D7A"/>
                </a:solidFill>
              </a:defRPr>
            </a:pPr>
            <a:r>
              <a:rPr sz="2025" b="1" i="0">
                <a:solidFill>
                  <a:srgbClr val="2D7D7A"/>
                </a:solidFill>
              </a:rPr>
              <a:t>App and service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95B398-EC9F-4020-8493-AABD702E8D26}"/>
              </a:ext>
            </a:extLst>
          </p:cNvPr>
          <p:cNvSpPr>
            <a:spLocks noGrp="1"/>
          </p:cNvSpPr>
          <p:nvPr/>
        </p:nvSpPr>
        <p:spPr>
          <a:xfrm>
            <a:off x="4762500" y="2724150"/>
            <a:ext cx="2571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111827"/>
                </a:solidFill>
              </a:defRPr>
            </a:pPr>
            <a:r>
              <a:rPr sz="1575" b="0" i="0">
                <a:solidFill>
                  <a:srgbClr val="111827"/>
                </a:solidFill>
              </a:rPr>
              <a:t>Reliability, payments, customer support and subscriptions can shift share.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F9C21F2-969D-4B7A-BD81-5D8B00A14DB4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314325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746B3B-25FA-4D90-A90A-0E1D54E51F60}"/>
              </a:ext>
            </a:extLst>
          </p:cNvPr>
          <p:cNvSpPr>
            <a:spLocks noGrp="1"/>
          </p:cNvSpPr>
          <p:nvPr/>
        </p:nvSpPr>
        <p:spPr>
          <a:xfrm>
            <a:off x="8439150" y="21336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B7791F"/>
                </a:solidFill>
              </a:defRPr>
            </a:pPr>
            <a:r>
              <a:rPr sz="2025" b="1" i="0">
                <a:solidFill>
                  <a:srgbClr val="B7791F"/>
                </a:solidFill>
              </a:rPr>
              <a:t>Promotions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37D0BE-6C46-4F28-B87B-1E0505702FCA}"/>
              </a:ext>
            </a:extLst>
          </p:cNvPr>
          <p:cNvSpPr>
            <a:spLocks noGrp="1"/>
          </p:cNvSpPr>
          <p:nvPr/>
        </p:nvSpPr>
        <p:spPr>
          <a:xfrm>
            <a:off x="8439150" y="2724150"/>
            <a:ext cx="2571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111827"/>
                </a:solidFill>
              </a:defRPr>
            </a:pPr>
            <a:r>
              <a:rPr sz="1575" b="0" i="0">
                <a:solidFill>
                  <a:srgbClr val="111827"/>
                </a:solidFill>
              </a:rPr>
              <a:t>New-user offers and bundles may create targeted competition not visible in headline fares.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F595B0-B120-4828-80F1-4E304AAF89E3}"/>
              </a:ext>
            </a:extLst>
          </p:cNvPr>
          <p:cNvSpPr>
            <a:spLocks noGrp="1"/>
          </p:cNvSpPr>
          <p:nvPr/>
        </p:nvSpPr>
        <p:spPr>
          <a:xfrm>
            <a:off x="1066800" y="49530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8345D"/>
                </a:solidFill>
              </a:defRPr>
            </a:pPr>
            <a:r>
              <a:rPr sz="1800" b="1" i="0">
                <a:solidFill>
                  <a:srgbClr val="18345D"/>
                </a:solidFill>
              </a:rPr>
              <a:t>Use the share evidence: ZoomZip is cheapest per minute and gains share; FlashRide is most expensive and loses share. That sits awkwardly with perfect coordination.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D2B98B-1075-4601-8AED-A447DAB4955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Source: submitted Section C and Excel market share data.</a:t>
            </a:r>
          </a:p>
        </p:txBody>
      </p:sp>
    </p:spTree>
    <p:extLst>
      <p:ext uri="{BB962C8B-B14F-4D97-AF65-F5344CB8AC3E}">
        <p14:creationId xmlns:p14="http://schemas.microsoft.com/office/powerpoint/2010/main" val="1631421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1855B2F-39ED-4EAD-83E5-85786120A75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 i="0">
                <a:solidFill>
                  <a:srgbClr val="286FB7"/>
                </a:solidFill>
              </a:defRPr>
            </a:pPr>
            <a:r>
              <a:rPr lang="en-GB" sz="850" b="1" i="0">
                <a:solidFill>
                  <a:srgbClr val="2F5D8A"/>
                </a:solidFill>
                <a:latin typeface="Aptos"/>
              </a:rPr>
              <a:t>CONSUMER HARM ASSESSMENT</a:t>
            </a:r>
            <a:endParaRPr sz="850" b="1" i="0">
              <a:solidFill>
                <a:srgbClr val="2F5D8A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50BF64-5299-4FFD-92BE-E2F3A5CCBFEF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0F2747"/>
                </a:solidFill>
                <a:latin typeface="Aptos"/>
              </a:rPr>
              <a:t>Consumer harm is plausible and measurable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5620AF-7222-410E-81A9-6B71177DAAEF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5B6472"/>
                </a:solidFill>
              </a:defRPr>
            </a:pPr>
            <a:r>
              <a:rPr sz="800" i="0">
                <a:solidFill>
                  <a:srgbClr val="5B6675"/>
                </a:solidFill>
                <a:latin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3CE6B7-E5FF-40F5-9F8C-BD775C855096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524000" cy="38100"/>
          </a:xfrm>
          <a:prstGeom prst="rect">
            <a:avLst/>
          </a:prstGeom>
          <a:solidFill>
            <a:srgbClr val="0F27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4548DD2-FE6E-40AA-BDBE-FDD2DF498059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238125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73B83D-4A9F-4D8F-B0B9-C214C15A0AED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A9423A"/>
                </a:solidFill>
              </a:defRPr>
            </a:pPr>
            <a:r>
              <a:rPr sz="2850" b="1" i="0">
                <a:solidFill>
                  <a:srgbClr val="A9423A"/>
                </a:solidFill>
              </a:rPr>
              <a:t>10%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12019B-3736-4836-A18E-E89B906929EC}"/>
              </a:ext>
            </a:extLst>
          </p:cNvPr>
          <p:cNvSpPr>
            <a:spLocks noGrp="1"/>
          </p:cNvSpPr>
          <p:nvPr/>
        </p:nvSpPr>
        <p:spPr>
          <a:xfrm>
            <a:off x="1028700" y="253365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Price rise across all firms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753AE45-5F06-4037-877D-AEDD5E8BF6DA}"/>
              </a:ext>
            </a:extLst>
          </p:cNvPr>
          <p:cNvSpPr>
            <a:spLocks noGrp="1"/>
          </p:cNvSpPr>
          <p:nvPr/>
        </p:nvSpPr>
        <p:spPr>
          <a:xfrm>
            <a:off x="3562350" y="1790700"/>
            <a:ext cx="238125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59C5A4-272C-440D-882D-5E433DFC7B94}"/>
              </a:ext>
            </a:extLst>
          </p:cNvPr>
          <p:cNvSpPr>
            <a:spLocks noGrp="1"/>
          </p:cNvSpPr>
          <p:nvPr/>
        </p:nvSpPr>
        <p:spPr>
          <a:xfrm>
            <a:off x="3790950" y="201930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B7791F"/>
                </a:solidFill>
              </a:defRPr>
            </a:pPr>
            <a:r>
              <a:rPr sz="2850" b="1" i="0">
                <a:solidFill>
                  <a:srgbClr val="B7791F"/>
                </a:solidFill>
              </a:rPr>
              <a:t>5%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E20684-8971-4819-A74D-5D343951AA0B}"/>
              </a:ext>
            </a:extLst>
          </p:cNvPr>
          <p:cNvSpPr>
            <a:spLocks noGrp="1"/>
          </p:cNvSpPr>
          <p:nvPr/>
        </p:nvSpPr>
        <p:spPr>
          <a:xfrm>
            <a:off x="3790950" y="253365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Reduction in total rides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0085DB3-7156-4EC2-844F-7899679DB6DB}"/>
              </a:ext>
            </a:extLst>
          </p:cNvPr>
          <p:cNvSpPr>
            <a:spLocks noGrp="1"/>
          </p:cNvSpPr>
          <p:nvPr/>
        </p:nvSpPr>
        <p:spPr>
          <a:xfrm>
            <a:off x="6324600" y="1790700"/>
            <a:ext cx="238125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768F33-DC16-45DD-978E-8B87E11D74F9}"/>
              </a:ext>
            </a:extLst>
          </p:cNvPr>
          <p:cNvSpPr>
            <a:spLocks noGrp="1"/>
          </p:cNvSpPr>
          <p:nvPr/>
        </p:nvSpPr>
        <p:spPr>
          <a:xfrm>
            <a:off x="6553200" y="201930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28734F"/>
                </a:solidFill>
              </a:defRPr>
            </a:pPr>
            <a:r>
              <a:rPr sz="2850" b="1" i="0">
                <a:solidFill>
                  <a:srgbClr val="28734F"/>
                </a:solidFill>
              </a:rPr>
              <a:t>GBP 5.2m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7378A1-58D0-49DF-9846-3197AE1244F2}"/>
              </a:ext>
            </a:extLst>
          </p:cNvPr>
          <p:cNvSpPr>
            <a:spLocks noGrp="1"/>
          </p:cNvSpPr>
          <p:nvPr/>
        </p:nvSpPr>
        <p:spPr>
          <a:xfrm>
            <a:off x="6553200" y="253365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Contribution pool, Year 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C684AC1-BFA6-4DC7-9D67-96A8FF48D7CA}"/>
              </a:ext>
            </a:extLst>
          </p:cNvPr>
          <p:cNvSpPr>
            <a:spLocks noGrp="1"/>
          </p:cNvSpPr>
          <p:nvPr/>
        </p:nvSpPr>
        <p:spPr>
          <a:xfrm>
            <a:off x="9086850" y="1790700"/>
            <a:ext cx="238125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1E30C1-8506-4732-B8CB-A7E2C0A34446}"/>
              </a:ext>
            </a:extLst>
          </p:cNvPr>
          <p:cNvSpPr>
            <a:spLocks noGrp="1"/>
          </p:cNvSpPr>
          <p:nvPr/>
        </p:nvSpPr>
        <p:spPr>
          <a:xfrm>
            <a:off x="9315450" y="201930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286FB7"/>
                </a:solidFill>
              </a:defRPr>
            </a:pPr>
            <a:r>
              <a:rPr sz="2850" b="1" i="0">
                <a:solidFill>
                  <a:srgbClr val="286FB7"/>
                </a:solidFill>
              </a:rPr>
              <a:t>3,550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8A5EC1-DDD7-450E-BADE-1C7F759FBFCD}"/>
              </a:ext>
            </a:extLst>
          </p:cNvPr>
          <p:cNvSpPr>
            <a:spLocks noGrp="1"/>
          </p:cNvSpPr>
          <p:nvPr/>
        </p:nvSpPr>
        <p:spPr>
          <a:xfrm>
            <a:off x="9315450" y="2533650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Year 3 HHI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DA71749-F032-4055-81F2-34CE00679CC5}"/>
              </a:ext>
            </a:extLst>
          </p:cNvPr>
          <p:cNvSpPr>
            <a:spLocks noGrp="1"/>
          </p:cNvSpPr>
          <p:nvPr/>
        </p:nvSpPr>
        <p:spPr>
          <a:xfrm>
            <a:off x="876300" y="3733800"/>
            <a:ext cx="10363200" cy="17526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EDEA34-4ABD-406E-9636-1233333B7247}"/>
              </a:ext>
            </a:extLst>
          </p:cNvPr>
          <p:cNvSpPr>
            <a:spLocks noGrp="1"/>
          </p:cNvSpPr>
          <p:nvPr/>
        </p:nvSpPr>
        <p:spPr>
          <a:xfrm>
            <a:off x="1162050" y="39497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8345D"/>
                </a:solidFill>
              </a:defRPr>
            </a:pPr>
            <a:r>
              <a:rPr sz="1500" b="1" i="0">
                <a:solidFill>
                  <a:srgbClr val="0F2747"/>
                </a:solidFill>
                <a:latin typeface="Aptos"/>
              </a:rPr>
              <a:t>How harm manifests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53AF81-865D-40ED-AC4A-1C21BEBAF448}"/>
              </a:ext>
            </a:extLst>
          </p:cNvPr>
          <p:cNvSpPr>
            <a:spLocks noGrp="1"/>
          </p:cNvSpPr>
          <p:nvPr/>
        </p:nvSpPr>
        <p:spPr>
          <a:xfrm>
            <a:off x="1162050" y="4381500"/>
            <a:ext cx="9525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350" i="0">
                <a:solidFill>
                  <a:srgbClr val="2B2F36"/>
                </a:solidFill>
                <a:latin typeface="Aptos"/>
              </a:rPr>
              <a:t>- Higher fares for continuing riders</a:t>
            </a:r>
          </a:p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350" i="0">
                <a:solidFill>
                  <a:srgbClr val="2B2F36"/>
                </a:solidFill>
                <a:latin typeface="Aptos"/>
              </a:rPr>
              <a:t>- Lost trips from users priced out</a:t>
            </a:r>
          </a:p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350" i="0">
                <a:solidFill>
                  <a:srgbClr val="2B2F36"/>
                </a:solidFill>
                <a:latin typeface="Aptos"/>
              </a:rPr>
              <a:t>- Weak choice if users cannot switch easily</a:t>
            </a:r>
          </a:p>
          <a:p>
            <a:pPr algn="l">
              <a:defRPr sz="1500" b="0" i="0">
                <a:solidFill>
                  <a:srgbClr val="111827"/>
                </a:solidFill>
              </a:defRPr>
            </a:pPr>
            <a:r>
              <a:rPr sz="1350" i="0">
                <a:solidFill>
                  <a:srgbClr val="2B2F36"/>
                </a:solidFill>
                <a:latin typeface="Aptos"/>
              </a:rPr>
              <a:t>- Possible weaker quality and innovation incentives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9B6CB1-AE00-40AD-9811-C3118BC129F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Source: submitted Section D and Excel Analysis sheet.</a:t>
            </a:r>
          </a:p>
        </p:txBody>
      </p:sp>
    </p:spTree>
    <p:extLst>
      <p:ext uri="{BB962C8B-B14F-4D97-AF65-F5344CB8AC3E}">
        <p14:creationId xmlns:p14="http://schemas.microsoft.com/office/powerpoint/2010/main" val="935284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00AF433-55B9-4EB2-9477-7F938722591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 i="0">
                <a:solidFill>
                  <a:srgbClr val="286FB7"/>
                </a:solidFill>
              </a:defRPr>
            </a:pPr>
            <a:r>
              <a:rPr lang="en-GB" sz="850" b="1" i="0">
                <a:solidFill>
                  <a:srgbClr val="2F5D8A"/>
                </a:solidFill>
                <a:latin typeface="Aptos"/>
              </a:rPr>
              <a:t>CONSUMER HARM ASSESSMENT</a:t>
            </a:r>
            <a:endParaRPr sz="850" b="1" i="0">
              <a:solidFill>
                <a:srgbClr val="2F5D8A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946DA2-0C11-4879-9AF2-33C8C27AFAA5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0F2747"/>
                </a:solidFill>
                <a:latin typeface="Aptos"/>
              </a:rPr>
              <a:t>Caveats make the answer stronger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A54862-A6D6-4DFF-9402-71E91CD4CD44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5B6472"/>
                </a:solidFill>
              </a:defRPr>
            </a:pPr>
            <a:r>
              <a:rPr sz="800" i="0">
                <a:solidFill>
                  <a:srgbClr val="5B6675"/>
                </a:solidFill>
                <a:latin typeface="Aptos"/>
              </a:rPr>
              <a:t>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7E9789-4C84-48FE-829A-3B48BB4D39C0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524000" cy="38100"/>
          </a:xfrm>
          <a:prstGeom prst="rect">
            <a:avLst/>
          </a:prstGeom>
          <a:solidFill>
            <a:srgbClr val="0F27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6B8289-DC7E-4A9A-906D-B334875A4FF7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 i="0">
                <a:solidFill>
                  <a:srgbClr val="A9423A"/>
                </a:solidFill>
              </a:defRPr>
            </a:pPr>
            <a:r>
              <a:rPr sz="2400" b="1" i="0">
                <a:solidFill>
                  <a:srgbClr val="C88A2A"/>
                </a:solidFill>
                <a:latin typeface="Aptos"/>
              </a:rPr>
              <a:t>Do not overclaim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11911C-41CD-4EF4-AC4C-B8814AFD2B42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45720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11827"/>
                </a:solidFill>
              </a:defRPr>
            </a:pPr>
            <a:r>
              <a:rPr sz="1725" b="0" i="0">
                <a:solidFill>
                  <a:srgbClr val="111827"/>
                </a:solidFill>
              </a:rPr>
              <a:t>- No direct evidence of agreement</a:t>
            </a:r>
          </a:p>
          <a:p>
            <a:pPr algn="l">
              <a:defRPr sz="1725" b="0" i="0">
                <a:solidFill>
                  <a:srgbClr val="111827"/>
                </a:solidFill>
              </a:defRPr>
            </a:pPr>
            <a:r>
              <a:rPr sz="1725" b="0" i="0">
                <a:solidFill>
                  <a:srgbClr val="111827"/>
                </a:solidFill>
              </a:rPr>
              <a:t>- Only Year 3 cost data is available</a:t>
            </a:r>
          </a:p>
          <a:p>
            <a:pPr algn="l">
              <a:defRPr sz="1725" b="0" i="0">
                <a:solidFill>
                  <a:srgbClr val="111827"/>
                </a:solidFill>
              </a:defRPr>
            </a:pPr>
            <a:r>
              <a:rPr sz="1725" b="0" i="0">
                <a:solidFill>
                  <a:srgbClr val="111827"/>
                </a:solidFill>
              </a:rPr>
              <a:t>- Cost data omits fixed/capital elements</a:t>
            </a:r>
          </a:p>
          <a:p>
            <a:pPr algn="l">
              <a:defRPr sz="1725" b="0" i="0">
                <a:solidFill>
                  <a:srgbClr val="111827"/>
                </a:solidFill>
              </a:defRPr>
            </a:pPr>
            <a:r>
              <a:rPr sz="1725" b="0" i="0">
                <a:solidFill>
                  <a:srgbClr val="111827"/>
                </a:solidFill>
              </a:rPr>
              <a:t>- Elasticity is crude and single-period</a:t>
            </a:r>
          </a:p>
          <a:p>
            <a:pPr algn="l">
              <a:defRPr sz="1725" b="0" i="0">
                <a:solidFill>
                  <a:srgbClr val="111827"/>
                </a:solidFill>
              </a:defRPr>
            </a:pPr>
            <a:r>
              <a:rPr sz="1725" b="0" i="0">
                <a:solidFill>
                  <a:srgbClr val="111827"/>
                </a:solidFill>
              </a:rPr>
              <a:t>- Output fall could reflect non-price factors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FD786C-3E22-4749-ABA0-F1C1AA73293C}"/>
              </a:ext>
            </a:extLst>
          </p:cNvPr>
          <p:cNvSpPr>
            <a:spLocks noGrp="1"/>
          </p:cNvSpPr>
          <p:nvPr/>
        </p:nvSpPr>
        <p:spPr>
          <a:xfrm>
            <a:off x="6762750" y="171450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 i="0">
                <a:solidFill>
                  <a:srgbClr val="28734F"/>
                </a:solidFill>
              </a:defRPr>
            </a:pPr>
            <a:r>
              <a:rPr sz="2400" b="1" i="0">
                <a:solidFill>
                  <a:srgbClr val="2D7D74"/>
                </a:solidFill>
                <a:latin typeface="Aptos"/>
              </a:rPr>
              <a:t>But still act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4EAD87-3C7B-4711-81EF-D81383A3C4CC}"/>
              </a:ext>
            </a:extLst>
          </p:cNvPr>
          <p:cNvSpPr>
            <a:spLocks noGrp="1"/>
          </p:cNvSpPr>
          <p:nvPr/>
        </p:nvSpPr>
        <p:spPr>
          <a:xfrm>
            <a:off x="6800850" y="2343150"/>
            <a:ext cx="45720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 i="0">
                <a:solidFill>
                  <a:srgbClr val="111827"/>
                </a:solidFill>
              </a:defRPr>
            </a:pPr>
            <a:r>
              <a:rPr sz="1725" b="0" i="0">
                <a:solidFill>
                  <a:srgbClr val="111827"/>
                </a:solidFill>
              </a:rPr>
              <a:t>- Market is highly concentrated</a:t>
            </a:r>
          </a:p>
          <a:p>
            <a:pPr algn="l">
              <a:defRPr sz="1725" b="0" i="0">
                <a:solidFill>
                  <a:srgbClr val="111827"/>
                </a:solidFill>
              </a:defRPr>
            </a:pPr>
            <a:r>
              <a:rPr sz="1725" b="0" i="0">
                <a:solidFill>
                  <a:srgbClr val="111827"/>
                </a:solidFill>
              </a:rPr>
              <a:t>- Entry is capped by regulation</a:t>
            </a:r>
          </a:p>
          <a:p>
            <a:pPr algn="l">
              <a:defRPr sz="1725" b="0" i="0">
                <a:solidFill>
                  <a:srgbClr val="111827"/>
                </a:solidFill>
              </a:defRPr>
            </a:pPr>
            <a:r>
              <a:rPr sz="1725" b="0" i="0">
                <a:solidFill>
                  <a:srgbClr val="111827"/>
                </a:solidFill>
              </a:rPr>
              <a:t>- Switching costs weaken consumers</a:t>
            </a:r>
          </a:p>
          <a:p>
            <a:pPr algn="l">
              <a:defRPr sz="1725" b="0" i="0">
                <a:solidFill>
                  <a:srgbClr val="111827"/>
                </a:solidFill>
              </a:defRPr>
            </a:pPr>
            <a:r>
              <a:rPr sz="1725" b="0" i="0">
                <a:solidFill>
                  <a:srgbClr val="111827"/>
                </a:solidFill>
              </a:rPr>
              <a:t>- Prices rose together and fast</a:t>
            </a:r>
          </a:p>
          <a:p>
            <a:pPr algn="l">
              <a:defRPr sz="1725" b="0" i="0">
                <a:solidFill>
                  <a:srgbClr val="111827"/>
                </a:solidFill>
              </a:defRPr>
            </a:pPr>
            <a:r>
              <a:rPr sz="1725" b="0" i="0">
                <a:solidFill>
                  <a:srgbClr val="111827"/>
                </a:solidFill>
              </a:rPr>
              <a:t>- Low-risk remedies are available now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588DD1-6593-4B05-8B5B-C84519DEF6D5}"/>
              </a:ext>
            </a:extLst>
          </p:cNvPr>
          <p:cNvSpPr>
            <a:spLocks noGrp="1"/>
          </p:cNvSpPr>
          <p:nvPr/>
        </p:nvSpPr>
        <p:spPr>
          <a:xfrm>
            <a:off x="1200150" y="5219700"/>
            <a:ext cx="9791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8345D"/>
                </a:solidFill>
              </a:defRPr>
            </a:pPr>
            <a:r>
              <a:rPr sz="1875" b="1" i="0">
                <a:solidFill>
                  <a:srgbClr val="18345D"/>
                </a:solidFill>
              </a:rPr>
              <a:t>Interview line: the uncertainty affects the remedy ladder, not whether the Authority should investigate.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AD777-28F4-485C-912F-BCD3218225B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Source: submitted Section D.</a:t>
            </a:r>
          </a:p>
        </p:txBody>
      </p:sp>
    </p:spTree>
    <p:extLst>
      <p:ext uri="{BB962C8B-B14F-4D97-AF65-F5344CB8AC3E}">
        <p14:creationId xmlns:p14="http://schemas.microsoft.com/office/powerpoint/2010/main" val="969097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9E7654B-D310-43C3-8B85-EFFFACA07E7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 i="0">
                <a:solidFill>
                  <a:srgbClr val="286FB7"/>
                </a:solidFill>
              </a:defRPr>
            </a:pPr>
            <a:r>
              <a:rPr lang="en-GB" sz="850" b="1" i="0">
                <a:solidFill>
                  <a:srgbClr val="2F5D8A"/>
                </a:solidFill>
                <a:latin typeface="Aptos"/>
              </a:rPr>
              <a:t>INTERVENTION OPTIONS</a:t>
            </a:r>
            <a:endParaRPr sz="850" b="1" i="0">
              <a:solidFill>
                <a:srgbClr val="2F5D8A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90433B-EE63-458B-BA46-5274E7CBF425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0F2747"/>
                </a:solidFill>
                <a:latin typeface="Aptos"/>
              </a:rPr>
              <a:t>Remedies should follow the evidence strength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F2134F-41B8-4833-8B3C-80788F59A8CC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5B6472"/>
                </a:solidFill>
              </a:defRPr>
            </a:pPr>
            <a:r>
              <a:rPr sz="800" i="0">
                <a:solidFill>
                  <a:srgbClr val="5B6675"/>
                </a:solidFill>
                <a:latin typeface="Aptos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143C4F-A9F9-46DB-9BCB-7C6F2B862F14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524000" cy="38100"/>
          </a:xfrm>
          <a:prstGeom prst="rect">
            <a:avLst/>
          </a:prstGeom>
          <a:solidFill>
            <a:srgbClr val="0F27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11"/>
          <p:cNvGraphicFramePr/>
          <p:nvPr>
            <p:extLst>
              <p:ext uri="{D42A27DB-BD31-4B8C-83A1-F6EECF244321}">
                <p14:modId xmlns:p14="http://schemas.microsoft.com/office/powerpoint/2010/main" val="1221987443"/>
              </p:ext>
            </p:extLst>
          </p:nvPr>
        </p:nvGraphicFramePr>
        <p:xfrm>
          <a:off x="514350" y="1581150"/>
          <a:ext cx="11163300" cy="3638552"/>
        </p:xfrm>
        <a:graphic>
          <a:graphicData uri="http://schemas.openxmlformats.org/drawingml/2006/table">
            <a:tbl>
              <a:tblPr firstRow="1" bandRow="1"/>
              <a:tblGrid>
                <a:gridCol w="2211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4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4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2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0963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Option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Benefit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Judgement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963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Review licence cap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Tackles root entry barrier; increases contestability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Congestion, clutter, safety and viability risks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Preferred structural route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963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Transparency/switching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Low-risk way to improve consumer choice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Limited if entry remains blocked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Do now after evidence check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963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Fare cap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Fast consumer protection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Hard to set; may chill quality and become focal price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Backstop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9DE15D7-5E2B-4980-9AE4-8DB191BB8679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1028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8345D"/>
                </a:solidFill>
              </a:defRPr>
            </a:pPr>
            <a:r>
              <a:rPr sz="1800" b="1" i="0">
                <a:solidFill>
                  <a:srgbClr val="18345D"/>
                </a:solidFill>
              </a:rPr>
              <a:t>The answer is not anti-intervention. It is pro-proportionate intervention: start where the evidence is strongest.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AE727-46B9-4C26-B031-FFCA3B93B03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Source: submitted Section E.</a:t>
            </a:r>
          </a:p>
        </p:txBody>
      </p:sp>
    </p:spTree>
    <p:extLst>
      <p:ext uri="{BB962C8B-B14F-4D97-AF65-F5344CB8AC3E}">
        <p14:creationId xmlns:p14="http://schemas.microsoft.com/office/powerpoint/2010/main" val="925875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22E4F17-ED53-4E53-9F95-6FAEBB20994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 i="0">
                <a:solidFill>
                  <a:srgbClr val="286FB7"/>
                </a:solidFill>
              </a:defRPr>
            </a:pPr>
            <a:r>
              <a:rPr lang="en-GB" sz="850" b="1" i="0">
                <a:solidFill>
                  <a:srgbClr val="2F5D8A"/>
                </a:solidFill>
                <a:latin typeface="Aptos"/>
              </a:rPr>
              <a:t>RECOMMENDATION</a:t>
            </a:r>
            <a:endParaRPr sz="850" b="1" i="0">
              <a:solidFill>
                <a:srgbClr val="2F5D8A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00A04C-3284-44FC-87A6-AB7491F42D5F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0F2747"/>
                </a:solidFill>
                <a:latin typeface="Aptos"/>
              </a:rPr>
              <a:t>A staged workplan is the cleanest answer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73E189-6912-47C6-A762-55ABEFF1E540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5B6472"/>
                </a:solidFill>
              </a:defRPr>
            </a:pPr>
            <a:r>
              <a:rPr sz="800" i="0">
                <a:solidFill>
                  <a:srgbClr val="5B6675"/>
                </a:solidFill>
                <a:latin typeface="Aptos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657DDF-F43E-47B8-B421-1833ECA57619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524000" cy="38100"/>
          </a:xfrm>
          <a:prstGeom prst="rect">
            <a:avLst/>
          </a:prstGeom>
          <a:solidFill>
            <a:srgbClr val="0F27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DEBABAE-6B03-4C1E-908C-07FF1B174E14}"/>
              </a:ext>
            </a:extLst>
          </p:cNvPr>
          <p:cNvSpPr>
            <a:spLocks noGrp="1"/>
          </p:cNvSpPr>
          <p:nvPr/>
        </p:nvSpPr>
        <p:spPr>
          <a:xfrm>
            <a:off x="762000" y="1924050"/>
            <a:ext cx="2247900" cy="25908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1B1649-67E6-4FF7-8F1D-3336346F3933}"/>
              </a:ext>
            </a:extLst>
          </p:cNvPr>
          <p:cNvSpPr>
            <a:spLocks noGrp="1"/>
          </p:cNvSpPr>
          <p:nvPr/>
        </p:nvSpPr>
        <p:spPr>
          <a:xfrm>
            <a:off x="971550" y="21526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286FB7"/>
                </a:solidFill>
              </a:defRPr>
            </a:pPr>
            <a:r>
              <a:rPr sz="2850" b="1" i="0">
                <a:solidFill>
                  <a:srgbClr val="286FB7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5EAD90-2DEE-46E9-A7C4-B2090A06AAEC}"/>
              </a:ext>
            </a:extLst>
          </p:cNvPr>
          <p:cNvSpPr>
            <a:spLocks noGrp="1"/>
          </p:cNvSpPr>
          <p:nvPr/>
        </p:nvSpPr>
        <p:spPr>
          <a:xfrm>
            <a:off x="971550" y="28003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Market study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2B3696-3068-4566-B762-6E54C4F9C3D8}"/>
              </a:ext>
            </a:extLst>
          </p:cNvPr>
          <p:cNvSpPr>
            <a:spLocks noGrp="1"/>
          </p:cNvSpPr>
          <p:nvPr/>
        </p:nvSpPr>
        <p:spPr>
          <a:xfrm>
            <a:off x="971550" y="3429000"/>
            <a:ext cx="1809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Confirm cost trends, demand drivers, pricing history and quality changes.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586A906-B0DC-4E91-9FD7-626C3E5C58EC}"/>
              </a:ext>
            </a:extLst>
          </p:cNvPr>
          <p:cNvSpPr>
            <a:spLocks noGrp="1"/>
          </p:cNvSpPr>
          <p:nvPr/>
        </p:nvSpPr>
        <p:spPr>
          <a:xfrm>
            <a:off x="3486150" y="1924050"/>
            <a:ext cx="2247900" cy="25908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39093F-653F-46EB-A81D-EEB58A821B95}"/>
              </a:ext>
            </a:extLst>
          </p:cNvPr>
          <p:cNvSpPr>
            <a:spLocks noGrp="1"/>
          </p:cNvSpPr>
          <p:nvPr/>
        </p:nvSpPr>
        <p:spPr>
          <a:xfrm>
            <a:off x="3695700" y="21526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2D7D7A"/>
                </a:solidFill>
              </a:defRPr>
            </a:pPr>
            <a:r>
              <a:rPr sz="2850" b="1" i="0">
                <a:solidFill>
                  <a:srgbClr val="2D7D7A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72C231-739E-494A-A720-744C1D867100}"/>
              </a:ext>
            </a:extLst>
          </p:cNvPr>
          <p:cNvSpPr>
            <a:spLocks noGrp="1"/>
          </p:cNvSpPr>
          <p:nvPr/>
        </p:nvSpPr>
        <p:spPr>
          <a:xfrm>
            <a:off x="3695700" y="28003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Demand-side remedies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E3F0B-99F6-4489-A89D-A599B38CEF09}"/>
              </a:ext>
            </a:extLst>
          </p:cNvPr>
          <p:cNvSpPr>
            <a:spLocks noGrp="1"/>
          </p:cNvSpPr>
          <p:nvPr/>
        </p:nvSpPr>
        <p:spPr>
          <a:xfrm>
            <a:off x="3695700" y="3429000"/>
            <a:ext cx="1809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Improve price transparency, stored-credit portability and multi-homing.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F0C2310-68BD-45EC-8B4D-2764694A6099}"/>
              </a:ext>
            </a:extLst>
          </p:cNvPr>
          <p:cNvSpPr>
            <a:spLocks noGrp="1"/>
          </p:cNvSpPr>
          <p:nvPr/>
        </p:nvSpPr>
        <p:spPr>
          <a:xfrm>
            <a:off x="6210300" y="1924050"/>
            <a:ext cx="2247900" cy="25908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FA4601-3BF4-44D5-9C8C-1B9C4105F7B2}"/>
              </a:ext>
            </a:extLst>
          </p:cNvPr>
          <p:cNvSpPr>
            <a:spLocks noGrp="1"/>
          </p:cNvSpPr>
          <p:nvPr/>
        </p:nvSpPr>
        <p:spPr>
          <a:xfrm>
            <a:off x="6419850" y="21526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B7791F"/>
                </a:solidFill>
              </a:defRPr>
            </a:pPr>
            <a:r>
              <a:rPr sz="2850" b="1" i="0">
                <a:solidFill>
                  <a:srgbClr val="B7791F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85579B-E193-4C91-B087-AE9DD4E2832F}"/>
              </a:ext>
            </a:extLst>
          </p:cNvPr>
          <p:cNvSpPr>
            <a:spLocks noGrp="1"/>
          </p:cNvSpPr>
          <p:nvPr/>
        </p:nvSpPr>
        <p:spPr>
          <a:xfrm>
            <a:off x="6419850" y="28003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Review the cap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594EA2-2B5A-4EE6-A97D-5BDC09C219D8}"/>
              </a:ext>
            </a:extLst>
          </p:cNvPr>
          <p:cNvSpPr>
            <a:spLocks noGrp="1"/>
          </p:cNvSpPr>
          <p:nvPr/>
        </p:nvSpPr>
        <p:spPr>
          <a:xfrm>
            <a:off x="6419850" y="3429000"/>
            <a:ext cx="1809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Test whether three operators is still necessary or whether controlled entry works.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72E3D21-494C-4109-99E9-CEBB6A0DD911}"/>
              </a:ext>
            </a:extLst>
          </p:cNvPr>
          <p:cNvSpPr>
            <a:spLocks noGrp="1"/>
          </p:cNvSpPr>
          <p:nvPr/>
        </p:nvSpPr>
        <p:spPr>
          <a:xfrm>
            <a:off x="8934450" y="1924050"/>
            <a:ext cx="2247900" cy="25908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DB0EAF-DC4F-4326-BD26-D288246EFAFE}"/>
              </a:ext>
            </a:extLst>
          </p:cNvPr>
          <p:cNvSpPr>
            <a:spLocks noGrp="1"/>
          </p:cNvSpPr>
          <p:nvPr/>
        </p:nvSpPr>
        <p:spPr>
          <a:xfrm>
            <a:off x="9144000" y="21526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A9423A"/>
                </a:solidFill>
              </a:defRPr>
            </a:pPr>
            <a:r>
              <a:rPr sz="2850" b="1" i="0">
                <a:solidFill>
                  <a:srgbClr val="A9423A"/>
                </a:solidFill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58AC2C-AF68-4860-8C29-B68DE272FBE9}"/>
              </a:ext>
            </a:extLst>
          </p:cNvPr>
          <p:cNvSpPr>
            <a:spLocks noGrp="1"/>
          </p:cNvSpPr>
          <p:nvPr/>
        </p:nvSpPr>
        <p:spPr>
          <a:xfrm>
            <a:off x="9144000" y="28003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Escalate only on evidence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41B644-ECC5-4A6D-B6FE-EB28D0DE4575}"/>
              </a:ext>
            </a:extLst>
          </p:cNvPr>
          <p:cNvSpPr>
            <a:spLocks noGrp="1"/>
          </p:cNvSpPr>
          <p:nvPr/>
        </p:nvSpPr>
        <p:spPr>
          <a:xfrm>
            <a:off x="9144000" y="3429000"/>
            <a:ext cx="1809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Competition enforcement or fare control if plus factors or persistent harm appear.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2E6F36-1396-43B4-B796-8B7F6378C520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18345D"/>
                </a:solidFill>
              </a:defRPr>
            </a:pPr>
            <a:r>
              <a:rPr sz="1875" b="1" i="0">
                <a:solidFill>
                  <a:srgbClr val="18345D"/>
                </a:solidFill>
              </a:rPr>
              <a:t>Closing line: the current facts justify action on structure and consumer mobility, while preserving enforcement for stronger coordination evidence.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4865AD-B4B0-4675-A23A-E3FA74551A5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Source: submitted recommendation and Sections D-E.</a:t>
            </a:r>
          </a:p>
        </p:txBody>
      </p:sp>
    </p:spTree>
    <p:extLst>
      <p:ext uri="{BB962C8B-B14F-4D97-AF65-F5344CB8AC3E}">
        <p14:creationId xmlns:p14="http://schemas.microsoft.com/office/powerpoint/2010/main" val="1270935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963CF2F-0502-4F1C-B1E0-5E3C65865F4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 i="0">
                <a:solidFill>
                  <a:srgbClr val="286FB7"/>
                </a:solidFill>
              </a:defRPr>
            </a:pPr>
            <a:r>
              <a:rPr lang="en-GB" sz="850" b="1" i="0">
                <a:solidFill>
                  <a:srgbClr val="2F5D8A"/>
                </a:solidFill>
                <a:latin typeface="Aptos"/>
              </a:rPr>
              <a:t>DISCUSSION PREP</a:t>
            </a:r>
            <a:endParaRPr sz="850" b="1" i="0">
              <a:solidFill>
                <a:srgbClr val="2F5D8A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E4F678-B4C7-47BA-A873-4280F7731ECF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0F2747"/>
                </a:solidFill>
                <a:latin typeface="Aptos"/>
              </a:rPr>
              <a:t>Likely challenges and crisp answers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3B7EF1-4A3D-4CEA-8A22-1D0CA1C2839C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5B6472"/>
                </a:solidFill>
              </a:defRPr>
            </a:pPr>
            <a:r>
              <a:rPr sz="800" i="0">
                <a:solidFill>
                  <a:srgbClr val="5B6675"/>
                </a:solidFill>
                <a:latin typeface="Aptos"/>
              </a:rPr>
              <a:t>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7D1C43-03C5-4A57-A80A-213E00789759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524000" cy="38100"/>
          </a:xfrm>
          <a:prstGeom prst="rect">
            <a:avLst/>
          </a:prstGeom>
          <a:solidFill>
            <a:srgbClr val="0F27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/>
          <p:cNvGraphicFramePr/>
          <p:nvPr>
            <p:extLst>
              <p:ext uri="{D42A27DB-BD31-4B8C-83A1-F6EECF244321}">
                <p14:modId xmlns:p14="http://schemas.microsoft.com/office/powerpoint/2010/main" val="2469410301"/>
              </p:ext>
            </p:extLst>
          </p:nvPr>
        </p:nvGraphicFramePr>
        <p:xfrm>
          <a:off x="666750" y="1504950"/>
          <a:ext cx="10858500" cy="4191000"/>
        </p:xfrm>
        <a:graphic>
          <a:graphicData uri="http://schemas.openxmlformats.org/drawingml/2006/table">
            <a:tbl>
              <a:tblPr firstRow="1" bandRow="1"/>
              <a:tblGrid>
                <a:gridCol w="3567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0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Challenge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Best answer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Does parallel pricing mean collusion?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No. It is a red flag, but it needs plus factors: communications, intent, pricing sequence, cost evidence or inability to explain timing otherwise.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Can you say profits are excessive?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Not yet. The margins are high contribution margins; economic profit needs full fixed/capital cost and cost-of-capital evidence.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Why intervene if evidence is uncertain?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Because the structural issue is clear: a regulator-made cap, no entry and switching costs. Low-risk remedies are justified while deeper evidence is gathered.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Why not impose a price cap now?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It is intrusive and information-heavy. It may reduce quality, investment and availability and could become a focal price. Keep it as a backstop.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2A1E675-2F2E-4F90-8FF9-03F4FCC3A93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Source: submitted answer caveats and remedy reasoning.</a:t>
            </a:r>
          </a:p>
        </p:txBody>
      </p:sp>
    </p:spTree>
    <p:extLst>
      <p:ext uri="{BB962C8B-B14F-4D97-AF65-F5344CB8AC3E}">
        <p14:creationId xmlns:p14="http://schemas.microsoft.com/office/powerpoint/2010/main" val="2094814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D6A1037-53FB-4C27-A472-F7A6D8B2721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 i="0">
                <a:solidFill>
                  <a:srgbClr val="286FB7"/>
                </a:solidFill>
              </a:defRPr>
            </a:pPr>
            <a:r>
              <a:rPr lang="en-GB" sz="850" b="1" i="0">
                <a:solidFill>
                  <a:srgbClr val="2F5D8A"/>
                </a:solidFill>
                <a:latin typeface="Aptos"/>
              </a:rPr>
              <a:t>DISCUSSION PREP</a:t>
            </a:r>
            <a:endParaRPr sz="850" b="1" i="0">
              <a:solidFill>
                <a:srgbClr val="2F5D8A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2A88CC-5570-4D3E-9D6D-8F8AE30C1BD9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0F2747"/>
                </a:solidFill>
                <a:latin typeface="Aptos"/>
              </a:rPr>
              <a:t>Five-minute case discussion script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75AEFA-05E7-4228-AA7F-32F8B98C91B8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5B6472"/>
                </a:solidFill>
              </a:defRPr>
            </a:pPr>
            <a:r>
              <a:rPr sz="800" i="0">
                <a:solidFill>
                  <a:srgbClr val="5B6675"/>
                </a:solidFill>
                <a:latin typeface="Aptos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29763E-A1A8-4222-B00A-3238F4BC5F7E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524000" cy="38100"/>
          </a:xfrm>
          <a:prstGeom prst="rect">
            <a:avLst/>
          </a:prstGeom>
          <a:solidFill>
            <a:srgbClr val="0F27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45F943-7ED0-40E2-8DBF-7496780FDF8D}"/>
              </a:ext>
            </a:extLst>
          </p:cNvPr>
          <p:cNvSpPr>
            <a:spLocks noGrp="1"/>
          </p:cNvSpPr>
          <p:nvPr/>
        </p:nvSpPr>
        <p:spPr>
          <a:xfrm>
            <a:off x="762000" y="15811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286FB7"/>
                </a:solidFill>
              </a:defRPr>
            </a:pPr>
            <a:r>
              <a:rPr sz="1500" b="1" i="0">
                <a:solidFill>
                  <a:srgbClr val="286FB7"/>
                </a:solidFill>
              </a:rPr>
              <a:t>0:00-0:45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CA8DA1-2FA0-49C6-B92A-9856BCCCA8A7}"/>
              </a:ext>
            </a:extLst>
          </p:cNvPr>
          <p:cNvSpPr>
            <a:spLocks noGrp="1"/>
          </p:cNvSpPr>
          <p:nvPr/>
        </p:nvSpPr>
        <p:spPr>
          <a:xfrm>
            <a:off x="2209800" y="15811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Start with thesis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93FD8E-899B-41A7-B517-5E28AD5D6EA1}"/>
              </a:ext>
            </a:extLst>
          </p:cNvPr>
          <p:cNvSpPr>
            <a:spLocks noGrp="1"/>
          </p:cNvSpPr>
          <p:nvPr/>
        </p:nvSpPr>
        <p:spPr>
          <a:xfrm>
            <a:off x="4953000" y="1581150"/>
            <a:ext cx="619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Credible competition concern, not enough for collusion finding.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8607D3-5919-4AE6-A63A-AC37EDAFF946}"/>
              </a:ext>
            </a:extLst>
          </p:cNvPr>
          <p:cNvSpPr>
            <a:spLocks noGrp="1"/>
          </p:cNvSpPr>
          <p:nvPr/>
        </p:nvSpPr>
        <p:spPr>
          <a:xfrm>
            <a:off x="762000" y="2133600"/>
            <a:ext cx="10287000" cy="38100"/>
          </a:xfrm>
          <a:prstGeom prst="rect">
            <a:avLst/>
          </a:prstGeom>
          <a:solidFill>
            <a:srgbClr val="E7E5DF"/>
          </a:solidFill>
          <a:ln w="0">
            <a:solidFill>
              <a:srgbClr val="E7E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BC51D6-34AC-417E-8A21-295F29C9EF17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286FB7"/>
                </a:solidFill>
              </a:defRPr>
            </a:pPr>
            <a:r>
              <a:rPr sz="1500" b="1" i="0">
                <a:solidFill>
                  <a:srgbClr val="286FB7"/>
                </a:solidFill>
              </a:rPr>
              <a:t>0:45-1:45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687FF0-2C24-4466-95CE-E60CF1D2D9B4}"/>
              </a:ext>
            </a:extLst>
          </p:cNvPr>
          <p:cNvSpPr>
            <a:spLocks noGrp="1"/>
          </p:cNvSpPr>
          <p:nvPr/>
        </p:nvSpPr>
        <p:spPr>
          <a:xfrm>
            <a:off x="2209800" y="24003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Structure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FDC155-D381-4EC6-8C4B-714BFFF82486}"/>
              </a:ext>
            </a:extLst>
          </p:cNvPr>
          <p:cNvSpPr>
            <a:spLocks noGrp="1"/>
          </p:cNvSpPr>
          <p:nvPr/>
        </p:nvSpPr>
        <p:spPr>
          <a:xfrm>
            <a:off x="4953000" y="2400300"/>
            <a:ext cx="619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Three firms, capped entry, no entrants, high HHI and switching costs.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AEB46F-81A4-41C1-9684-3BBF8FC7F626}"/>
              </a:ext>
            </a:extLst>
          </p:cNvPr>
          <p:cNvSpPr>
            <a:spLocks noGrp="1"/>
          </p:cNvSpPr>
          <p:nvPr/>
        </p:nvSpPr>
        <p:spPr>
          <a:xfrm>
            <a:off x="762000" y="2952750"/>
            <a:ext cx="10287000" cy="38100"/>
          </a:xfrm>
          <a:prstGeom prst="rect">
            <a:avLst/>
          </a:prstGeom>
          <a:solidFill>
            <a:srgbClr val="E7E5DF"/>
          </a:solidFill>
          <a:ln w="0">
            <a:solidFill>
              <a:srgbClr val="E7E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757C7D-7D2D-423E-BC4D-292381BF2F8D}"/>
              </a:ext>
            </a:extLst>
          </p:cNvPr>
          <p:cNvSpPr>
            <a:spLocks noGrp="1"/>
          </p:cNvSpPr>
          <p:nvPr/>
        </p:nvSpPr>
        <p:spPr>
          <a:xfrm>
            <a:off x="762000" y="32194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286FB7"/>
                </a:solidFill>
              </a:defRPr>
            </a:pPr>
            <a:r>
              <a:rPr sz="1500" b="1" i="0">
                <a:solidFill>
                  <a:srgbClr val="286FB7"/>
                </a:solidFill>
              </a:rPr>
              <a:t>1:45-2:45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2BCAB9-76F5-476D-B508-2473E22B7426}"/>
              </a:ext>
            </a:extLst>
          </p:cNvPr>
          <p:cNvSpPr>
            <a:spLocks noGrp="1"/>
          </p:cNvSpPr>
          <p:nvPr/>
        </p:nvSpPr>
        <p:spPr>
          <a:xfrm>
            <a:off x="2209800" y="32194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Numbers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03A079-8E64-4D10-AF1F-26E5C4B02D28}"/>
              </a:ext>
            </a:extLst>
          </p:cNvPr>
          <p:cNvSpPr>
            <a:spLocks noGrp="1"/>
          </p:cNvSpPr>
          <p:nvPr/>
        </p:nvSpPr>
        <p:spPr>
          <a:xfrm>
            <a:off x="4953000" y="3219450"/>
            <a:ext cx="619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Margins and elasticity point to pricing power, but caveat economic profit.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0DAA40-641D-4AFA-B215-9D68C7D94865}"/>
              </a:ext>
            </a:extLst>
          </p:cNvPr>
          <p:cNvSpPr>
            <a:spLocks noGrp="1"/>
          </p:cNvSpPr>
          <p:nvPr/>
        </p:nvSpPr>
        <p:spPr>
          <a:xfrm>
            <a:off x="762000" y="3771900"/>
            <a:ext cx="10287000" cy="38100"/>
          </a:xfrm>
          <a:prstGeom prst="rect">
            <a:avLst/>
          </a:prstGeom>
          <a:solidFill>
            <a:srgbClr val="E7E5DF"/>
          </a:solidFill>
          <a:ln w="0">
            <a:solidFill>
              <a:srgbClr val="E7E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9A591A-9A1F-4A98-A534-1845997A0E1B}"/>
              </a:ext>
            </a:extLst>
          </p:cNvPr>
          <p:cNvSpPr>
            <a:spLocks noGrp="1"/>
          </p:cNvSpPr>
          <p:nvPr/>
        </p:nvSpPr>
        <p:spPr>
          <a:xfrm>
            <a:off x="762000" y="40386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286FB7"/>
                </a:solidFill>
              </a:defRPr>
            </a:pPr>
            <a:r>
              <a:rPr sz="1500" b="1" i="0">
                <a:solidFill>
                  <a:srgbClr val="286FB7"/>
                </a:solidFill>
              </a:rPr>
              <a:t>2:45-3:45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5C6B23-1DF1-4F57-9410-FAEA2D222ED4}"/>
              </a:ext>
            </a:extLst>
          </p:cNvPr>
          <p:cNvSpPr>
            <a:spLocks noGrp="1"/>
          </p:cNvSpPr>
          <p:nvPr/>
        </p:nvSpPr>
        <p:spPr>
          <a:xfrm>
            <a:off x="2209800" y="40386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Dynamics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02F7AC-7846-4817-A58F-FFA1FA16079A}"/>
              </a:ext>
            </a:extLst>
          </p:cNvPr>
          <p:cNvSpPr>
            <a:spLocks noGrp="1"/>
          </p:cNvSpPr>
          <p:nvPr/>
        </p:nvSpPr>
        <p:spPr>
          <a:xfrm>
            <a:off x="4953000" y="4038600"/>
            <a:ext cx="619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Parallel price rise has multiple explanations; request plus-factor evidence.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085C04-128E-4B81-AB6E-4748B97625F8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287000" cy="38100"/>
          </a:xfrm>
          <a:prstGeom prst="rect">
            <a:avLst/>
          </a:prstGeom>
          <a:solidFill>
            <a:srgbClr val="E7E5DF"/>
          </a:solidFill>
          <a:ln w="0">
            <a:solidFill>
              <a:srgbClr val="E7E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A630EE-EEC0-4582-91C1-E97081896FD3}"/>
              </a:ext>
            </a:extLst>
          </p:cNvPr>
          <p:cNvSpPr>
            <a:spLocks noGrp="1"/>
          </p:cNvSpPr>
          <p:nvPr/>
        </p:nvSpPr>
        <p:spPr>
          <a:xfrm>
            <a:off x="762000" y="48577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286FB7"/>
                </a:solidFill>
              </a:defRPr>
            </a:pPr>
            <a:r>
              <a:rPr sz="1500" b="1" i="0">
                <a:solidFill>
                  <a:srgbClr val="286FB7"/>
                </a:solidFill>
              </a:rPr>
              <a:t>3:45-5:00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43F6D9-D3AE-4879-B157-13EB9E8A8D90}"/>
              </a:ext>
            </a:extLst>
          </p:cNvPr>
          <p:cNvSpPr>
            <a:spLocks noGrp="1"/>
          </p:cNvSpPr>
          <p:nvPr/>
        </p:nvSpPr>
        <p:spPr>
          <a:xfrm>
            <a:off x="2209800" y="48577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Remedies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AC88D7-317A-47B8-BE3F-43F4484BA6E0}"/>
              </a:ext>
            </a:extLst>
          </p:cNvPr>
          <p:cNvSpPr>
            <a:spLocks noGrp="1"/>
          </p:cNvSpPr>
          <p:nvPr/>
        </p:nvSpPr>
        <p:spPr>
          <a:xfrm>
            <a:off x="4953000" y="4857750"/>
            <a:ext cx="619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Market study, switching remedies and cap review first; fare cap as backstop.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C16AEF-0CB9-4CB9-A09B-8AE280FC4FEA}"/>
              </a:ext>
            </a:extLst>
          </p:cNvPr>
          <p:cNvSpPr>
            <a:spLocks noGrp="1"/>
          </p:cNvSpPr>
          <p:nvPr/>
        </p:nvSpPr>
        <p:spPr>
          <a:xfrm>
            <a:off x="762000" y="5410200"/>
            <a:ext cx="10287000" cy="38100"/>
          </a:xfrm>
          <a:prstGeom prst="rect">
            <a:avLst/>
          </a:prstGeom>
          <a:solidFill>
            <a:srgbClr val="E7E5DF"/>
          </a:solidFill>
          <a:ln w="0">
            <a:solidFill>
              <a:srgbClr val="E7E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064F6-AE86-484A-988C-E5849A50A4A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Source: discussion structure built from Sections A-E of the submitted briefing note.</a:t>
            </a:r>
          </a:p>
        </p:txBody>
      </p:sp>
    </p:spTree>
    <p:extLst>
      <p:ext uri="{BB962C8B-B14F-4D97-AF65-F5344CB8AC3E}">
        <p14:creationId xmlns:p14="http://schemas.microsoft.com/office/powerpoint/2010/main" val="1837045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19ECC8-3684-449B-A3CC-B94A67BE1C7F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50" b="1" i="0">
                <a:solidFill>
                  <a:srgbClr val="286FB7"/>
                </a:solidFill>
              </a:defRPr>
            </a:pPr>
            <a:r>
              <a:rPr lang="en-GB" sz="850" b="1" i="0">
                <a:solidFill>
                  <a:srgbClr val="2F5D8A"/>
                </a:solidFill>
                <a:latin typeface="Aptos"/>
              </a:rPr>
              <a:t>APPENDIX</a:t>
            </a:r>
            <a:endParaRPr sz="850" b="1" i="0">
              <a:solidFill>
                <a:srgbClr val="2F5D8A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76A30C-3DBD-4780-9EC5-360752108128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0F2747"/>
                </a:solidFill>
                <a:latin typeface="Aptos"/>
              </a:rPr>
              <a:t>Calculation map and source checklist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375FC6-C869-47E7-A48B-F196227E45E9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 i="0">
                <a:solidFill>
                  <a:srgbClr val="5B6472"/>
                </a:solidFill>
              </a:defRPr>
            </a:pPr>
            <a:r>
              <a:rPr sz="800" i="0">
                <a:solidFill>
                  <a:srgbClr val="5B6675"/>
                </a:solidFill>
                <a:latin typeface="Aptos"/>
              </a:rPr>
              <a:t>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6C6192-30CA-4797-BF7E-B4A94948B9DD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1524000" cy="38100"/>
          </a:xfrm>
          <a:prstGeom prst="rect">
            <a:avLst/>
          </a:prstGeom>
          <a:solidFill>
            <a:srgbClr val="0F27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11"/>
          <p:cNvGraphicFramePr/>
          <p:nvPr>
            <p:extLst>
              <p:ext uri="{D42A27DB-BD31-4B8C-83A1-F6EECF244321}">
                <p14:modId xmlns:p14="http://schemas.microsoft.com/office/powerpoint/2010/main" val="448865050"/>
              </p:ext>
            </p:extLst>
          </p:nvPr>
        </p:nvGraphicFramePr>
        <p:xfrm>
          <a:off x="609600" y="1504950"/>
          <a:ext cx="10972800" cy="3638550"/>
        </p:xfrm>
        <a:graphic>
          <a:graphicData uri="http://schemas.openxmlformats.org/drawingml/2006/table">
            <a:tbl>
              <a:tblPr firstRow="1" bandRow="1"/>
              <a:tblGrid>
                <a:gridCol w="2581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5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5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Output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Formula/source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How to defend</a:t>
                      </a:r>
                    </a:p>
                  </a:txBody>
                  <a:tcPr anchor="ctr">
                    <a:solidFill>
                      <a:srgbClr val="0F2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HHI 3,550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45^2 + 30^2 + 25^2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Screening indicator for high concentration, not a standalone harm finding.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Revenue/ride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Unlock fee + per-minute fee x 12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Uses case average ride length.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Cost/ride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Ride cost + minute cost x 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Treat as direct operating cost, not full economic cost.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Elasticity -0.5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-5% volume change / +10% price change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Indicative market-level elasticity only.</a:t>
                      </a:r>
                    </a:p>
                  </a:txBody>
                  <a:tcPr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Contribution pool GBP 5.2m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Margin/ride x operator ride volumes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Aptos"/>
                        </a:rPr>
                        <a:t>Shows scale of pricing power, not total welfare loss.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F2DE247B-0AE7-4502-A79B-3C956FDCFB4C}"/>
              </a:ext>
            </a:extLst>
          </p:cNvPr>
          <p:cNvSpPr>
            <a:spLocks noGrp="1"/>
          </p:cNvSpPr>
          <p:nvPr/>
        </p:nvSpPr>
        <p:spPr>
          <a:xfrm>
            <a:off x="838200" y="552450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18345D"/>
                </a:solidFill>
              </a:defRPr>
            </a:pPr>
            <a:r>
              <a:rPr sz="1500" b="1" i="0">
                <a:solidFill>
                  <a:srgbClr val="18345D"/>
                </a:solidFill>
              </a:rPr>
              <a:t>Primary sources: submitted PDF briefing note, Excel calculation workbook, S&amp;W candidate case prompt, Gmail sent/receipt thread, and Davis &amp; Garces competition-economics text for theory framing.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E359D8-EF1D-4650-83CD-135A9E1323E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990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 i="0">
                <a:solidFill>
                  <a:srgbClr val="5B6472"/>
                </a:solidFill>
              </a:defRPr>
            </a:pPr>
            <a:r>
              <a:rPr sz="900" b="0" i="0">
                <a:solidFill>
                  <a:srgbClr val="5B6472"/>
                </a:solidFill>
              </a:rPr>
              <a:t>Files: SW_case_Pedalford_briefing_note (Leath Al Obaidi).pdf; E-scooter-case-study-calculations Leath Al Obaidi.xlsx.</a:t>
            </a:r>
          </a:p>
        </p:txBody>
      </p:sp>
    </p:spTree>
    <p:extLst>
      <p:ext uri="{BB962C8B-B14F-4D97-AF65-F5344CB8AC3E}">
        <p14:creationId xmlns:p14="http://schemas.microsoft.com/office/powerpoint/2010/main" val="18375879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D283331-E877-E349-84C9-BA2335D68A62}">
  <we:reference id="wa200010215" version="2.0.0.0" store="en-US" storeType="OMEX"/>
  <we:alternateReferences>
    <we:reference id="wa200010215" version="2.0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2574</Words>
  <Application>Microsoft Macintosh PowerPoint</Application>
  <DocSecurity>0</DocSecurity>
  <PresentationFormat>Widescreen</PresentationFormat>
  <Paragraphs>319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Leath Al Obaidi</cp:lastModifiedBy>
  <cp:revision>1</cp:revision>
  <dcterms:created xsi:type="dcterms:W3CDTF">2026-06-20T18:50:44Z</dcterms:created>
  <dcterms:modified xsi:type="dcterms:W3CDTF">2026-06-20T19:59:20Z</dcterms:modified>
</cp:coreProperties>
</file>